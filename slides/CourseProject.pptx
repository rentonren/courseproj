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59" r:id="rId2"/>
    <p:sldMasterId id="2147483664" r:id="rId3"/>
    <p:sldMasterId id="2147483697" r:id="rId4"/>
    <p:sldMasterId id="2147483700" r:id="rId5"/>
    <p:sldMasterId id="2147483703" r:id="rId6"/>
    <p:sldMasterId id="2147483706" r:id="rId7"/>
    <p:sldMasterId id="2147483725" r:id="rId8"/>
    <p:sldMasterId id="2147483711" r:id="rId9"/>
    <p:sldMasterId id="2147483720" r:id="rId10"/>
    <p:sldMasterId id="2147483722" r:id="rId11"/>
    <p:sldMasterId id="2147483741" r:id="rId12"/>
  </p:sldMasterIdLst>
  <p:notesMasterIdLst>
    <p:notesMasterId r:id="rId30"/>
  </p:notesMasterIdLst>
  <p:handoutMasterIdLst>
    <p:handoutMasterId r:id="rId31"/>
  </p:handoutMasterIdLst>
  <p:sldIdLst>
    <p:sldId id="256" r:id="rId13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8" r:id="rId29"/>
    <p:sldId id="365" r:id="rId59"/>
    <p:sldId id="366" r:id="rId60"/>
    <p:sldId id="367" r:id="rId6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479"/>
    <a:srgbClr val="D7A800"/>
    <a:srgbClr val="D6D6D6"/>
    <a:srgbClr val="AA7900"/>
    <a:srgbClr val="0096FF"/>
    <a:srgbClr val="00AAD6"/>
    <a:srgbClr val="0DD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6" autoAdjust="0"/>
    <p:restoredTop sz="95185"/>
  </p:normalViewPr>
  <p:slideViewPr>
    <p:cSldViewPr showGuides="1">
      <p:cViewPr varScale="1">
        <p:scale>
          <a:sx n="148" d="100"/>
          <a:sy n="148" d="100"/>
        </p:scale>
        <p:origin x="816" y="184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41" d="100"/>
          <a:sy n="141" d="100"/>
        </p:scale>
        <p:origin x="4112" y="2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" Target="slides/slide1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2" Type="http://schemas.openxmlformats.org/officeDocument/2006/relationships/slide" Target="slides/slide8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Relationship Id="rId46" Type="http://schemas.openxmlformats.org/officeDocument/2006/relationships/slide" Target="slides/slide12.xml"/><Relationship Id="rId47" Type="http://schemas.openxmlformats.org/officeDocument/2006/relationships/slide" Target="slides/slide13.xml"/><Relationship Id="rId48" Type="http://schemas.openxmlformats.org/officeDocument/2006/relationships/slide" Target="slides/slide14.xml"/><Relationship Id="rId49" Type="http://schemas.openxmlformats.org/officeDocument/2006/relationships/slide" Target="slides/slide15.xml"/><Relationship Id="rId50" Type="http://schemas.openxmlformats.org/officeDocument/2006/relationships/slide" Target="slides/slide16.xml"/><Relationship Id="rId51" Type="http://schemas.openxmlformats.org/officeDocument/2006/relationships/slide" Target="slides/slide17.xml"/><Relationship Id="rId52" Type="http://schemas.openxmlformats.org/officeDocument/2006/relationships/slide" Target="slides/slide18.xml"/><Relationship Id="rId53" Type="http://schemas.openxmlformats.org/officeDocument/2006/relationships/slide" Target="slides/slide19.xml"/><Relationship Id="rId54" Type="http://schemas.openxmlformats.org/officeDocument/2006/relationships/slide" Target="slides/slide20.xml"/><Relationship Id="rId55" Type="http://schemas.openxmlformats.org/officeDocument/2006/relationships/slide" Target="slides/slide21.xml"/><Relationship Id="rId56" Type="http://schemas.openxmlformats.org/officeDocument/2006/relationships/slide" Target="slides/slide22.xml"/><Relationship Id="rId57" Type="http://schemas.openxmlformats.org/officeDocument/2006/relationships/slide" Target="slides/slide23.xml"/><Relationship Id="rId58" Type="http://schemas.openxmlformats.org/officeDocument/2006/relationships/slide" Target="slides/slide24.xml"/><Relationship Id="rId59" Type="http://schemas.openxmlformats.org/officeDocument/2006/relationships/slide" Target="slides/slide26.xml"/><Relationship Id="rId60" Type="http://schemas.openxmlformats.org/officeDocument/2006/relationships/slide" Target="slides/slide27.xml"/><Relationship Id="rId61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1E857-FA80-42FD-B162-41B2A2E1E1C0}" type="datetimeFigureOut">
              <a:rPr lang="ko-KR" altLang="en-US" smtClean="0"/>
              <a:t>2020. 5. 5.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5F6BE-D3C4-49DD-B713-542D433C8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08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3F161-EA16-4540-AD6C-54BDB9687A6A}" type="datetimeFigureOut">
              <a:rPr lang="ko-KR" altLang="en-US" smtClean="0"/>
              <a:t>2020. 5. 5.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AE9C2-5881-4A10-94B1-2302DB879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35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AE9C2-5881-4A10-94B1-2302DB879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625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.jpg"/><Relationship Id="rId3" Type="http://schemas.openxmlformats.org/officeDocument/2006/relationships/image" Target="../media/image1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jpg"/><Relationship Id="rId3" Type="http://schemas.openxmlformats.org/officeDocument/2006/relationships/image" Target="../media/image12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jpg"/><Relationship Id="rId3" Type="http://schemas.openxmlformats.org/officeDocument/2006/relationships/image" Target="../media/image1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jpg"/><Relationship Id="rId3" Type="http://schemas.openxmlformats.org/officeDocument/2006/relationships/image" Target="../media/image12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6.jpg"/><Relationship Id="rId3" Type="http://schemas.openxmlformats.org/officeDocument/2006/relationships/image" Target="../media/image12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7.jpg"/><Relationship Id="rId3" Type="http://schemas.openxmlformats.org/officeDocument/2006/relationships/image" Target="../media/image12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8.jpeg"/><Relationship Id="rId3" Type="http://schemas.openxmlformats.org/officeDocument/2006/relationships/image" Target="../media/image1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jpg"/><Relationship Id="rId3" Type="http://schemas.openxmlformats.org/officeDocument/2006/relationships/image" Target="../media/image12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0.jpg"/><Relationship Id="rId3" Type="http://schemas.openxmlformats.org/officeDocument/2006/relationships/image" Target="../media/image12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jpg"/><Relationship Id="rId3" Type="http://schemas.openxmlformats.org/officeDocument/2006/relationships/image" Target="../media/image12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1.jpg"/><Relationship Id="rId3" Type="http://schemas.openxmlformats.org/officeDocument/2006/relationships/image" Target="../media/image12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2.jpeg"/><Relationship Id="rId3" Type="http://schemas.openxmlformats.org/officeDocument/2006/relationships/image" Target="../media/image12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3.jpeg"/><Relationship Id="rId3" Type="http://schemas.openxmlformats.org/officeDocument/2006/relationships/image" Target="../media/image12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1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4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5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rowd of people in a room&#10;&#10;Description automatically generated">
            <a:extLst>
              <a:ext uri="{FF2B5EF4-FFF2-40B4-BE49-F238E27FC236}">
                <a16:creationId xmlns:a16="http://schemas.microsoft.com/office/drawing/2014/main" id="{B1B0CE4E-6285-924C-9736-9FE7C2C63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3" b="16539"/>
          <a:stretch/>
        </p:blipFill>
        <p:spPr>
          <a:xfrm>
            <a:off x="0" y="0"/>
            <a:ext cx="9143998" cy="401191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C64DFBE-D021-44BF-84ED-0689DA9792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563555"/>
            <a:ext cx="9143999" cy="432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Sub-title description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8088BE3-25C4-4317-8E12-7D1A9D090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011910"/>
            <a:ext cx="914399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uli ExtraBold" panose="0200050304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6DA6C4-A7B4-1943-A96C-7E2CA31D83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5486"/>
            <a:ext cx="1440160" cy="34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4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1" y="3003550"/>
            <a:ext cx="9144001" cy="2139950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55576" y="2157550"/>
            <a:ext cx="1692000" cy="169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51471"/>
            <a:ext cx="9144000" cy="64807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AFCF31D-C6CE-4C4C-AE5A-2A4429FEF2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699566"/>
            <a:ext cx="9143999" cy="216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con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25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566664-172B-E545-9B8D-8AF7E379AC60}"/>
              </a:ext>
            </a:extLst>
          </p:cNvPr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9A35E1-5DE3-3D4E-A726-485BB6AD3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 ExtraBold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53F90-4249-1D4E-90B4-616FA5228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5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 ExtraBold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BFAAE-CBCE-7C4A-8BF2-85DCB8414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9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584000" y="25735"/>
            <a:ext cx="7560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cxnSp>
        <p:nvCxnSpPr>
          <p:cNvPr id="9" name="Straight Arrow Connector 8"/>
          <p:cNvCxnSpPr/>
          <p:nvPr userDrawn="1"/>
        </p:nvCxnSpPr>
        <p:spPr>
          <a:xfrm>
            <a:off x="711746" y="4940462"/>
            <a:ext cx="8432254" cy="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5A9E0C0-02B8-3844-88E5-BDBFF09383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09" y="3853173"/>
            <a:ext cx="771074" cy="109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4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76326" y="1262118"/>
            <a:ext cx="1584176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9108504" cy="82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179884" y="1352118"/>
            <a:ext cx="144016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723433" y="1437715"/>
            <a:ext cx="1296144" cy="1619999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516784" y="1352118"/>
            <a:ext cx="144016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3226" y="1442119"/>
            <a:ext cx="1296144" cy="1619999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8D9C76-6752-A14B-B8F2-B31FF121D2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7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80000" y="179550"/>
            <a:ext cx="8784000" cy="478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844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720000" y="442505"/>
            <a:ext cx="7704000" cy="4281359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75856" y="0"/>
            <a:ext cx="259228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30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0" y="1635646"/>
            <a:ext cx="4217146" cy="2310733"/>
          </a:xfrm>
          <a:prstGeom prst="rect">
            <a:avLst/>
          </a:prstGeom>
        </p:spPr>
      </p:pic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7764" y="1731146"/>
            <a:ext cx="2952328" cy="1905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6D06D2-3BBC-5042-B698-D316C23EE5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2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555776" y="1263998"/>
            <a:ext cx="2772000" cy="34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33752" y="1263998"/>
            <a:ext cx="1835776" cy="1728192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733752" y="2991806"/>
            <a:ext cx="1835776" cy="17281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C19D44-8FE7-6E49-B8DA-0E022CD5E4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1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411760" y="3939902"/>
            <a:ext cx="2160240" cy="1203598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4571760" y="0"/>
            <a:ext cx="2160240" cy="1203598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11760" y="0"/>
            <a:ext cx="216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572240" y="1183500"/>
            <a:ext cx="216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871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026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11484"/>
            <a:ext cx="3394308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75616" y="1443924"/>
            <a:ext cx="3104295" cy="2135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D8F06A-D43B-0946-8B96-82583F6175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8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 userDrawn="1"/>
        </p:nvSpPr>
        <p:spPr>
          <a:xfrm>
            <a:off x="0" y="2890433"/>
            <a:ext cx="9144000" cy="2253067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20696" y="1552933"/>
            <a:ext cx="1298551" cy="2242953"/>
            <a:chOff x="2627784" y="1825002"/>
            <a:chExt cx="1198166" cy="2069560"/>
          </a:xfrm>
        </p:grpSpPr>
        <p:sp>
          <p:nvSpPr>
            <p:cNvPr id="9" name="Rounded Rectangle 8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13" name="Oval 12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Rounded Rectangle 13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" name="Picture Placeholder 2"/>
          <p:cNvSpPr>
            <a:spLocks noGrp="1"/>
          </p:cNvSpPr>
          <p:nvPr userDrawn="1">
            <p:ph type="pic" idx="1" hasCustomPrompt="1"/>
          </p:nvPr>
        </p:nvSpPr>
        <p:spPr>
          <a:xfrm>
            <a:off x="994588" y="1742834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2910527" y="2088604"/>
            <a:ext cx="1298551" cy="2242953"/>
            <a:chOff x="2627784" y="1825002"/>
            <a:chExt cx="1198166" cy="2069560"/>
          </a:xfrm>
        </p:grpSpPr>
        <p:sp>
          <p:nvSpPr>
            <p:cNvPr id="17" name="Rounded Rectangle 16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0" name="Oval 19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Rounded Rectangle 20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984419" y="2291784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4900358" y="1383368"/>
            <a:ext cx="1298551" cy="2242953"/>
            <a:chOff x="2627784" y="1825002"/>
            <a:chExt cx="1198166" cy="2069560"/>
          </a:xfrm>
        </p:grpSpPr>
        <p:sp>
          <p:nvSpPr>
            <p:cNvPr id="24" name="Rounded Rectangle 23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7" name="Oval 26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Rounded Rectangle 27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9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974250" y="1586548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6890188" y="2345021"/>
            <a:ext cx="1298551" cy="2242953"/>
            <a:chOff x="2627784" y="1825002"/>
            <a:chExt cx="1198166" cy="2069560"/>
          </a:xfrm>
        </p:grpSpPr>
        <p:sp>
          <p:nvSpPr>
            <p:cNvPr id="31" name="Rounded Rectangle 30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34" name="Oval 33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Rounded Rectangle 34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964080" y="2548201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5AE34E9-720D-EE42-948B-40AD8D00B0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23478"/>
            <a:ext cx="45469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1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0" baseline="0">
                <a:latin typeface="Muli" panose="02000503040000020004" pitchFamily="2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2" name="Rounded Rectangle 11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lt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Half Frame 15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0292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flag&#10;&#10;Description automatically generated">
            <a:extLst>
              <a:ext uri="{FF2B5EF4-FFF2-40B4-BE49-F238E27FC236}">
                <a16:creationId xmlns:a16="http://schemas.microsoft.com/office/drawing/2014/main" id="{60F68C2A-4326-0249-B480-E34F62A687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C64DFBE-D021-44BF-84ED-0689DA9792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563555"/>
            <a:ext cx="9143999" cy="432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Sub-title description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8088BE3-25C4-4317-8E12-7D1A9D090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011910"/>
            <a:ext cx="914399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uli ExtraBold" panose="0200050304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6DA6C4-A7B4-1943-A96C-7E2CA31D83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5486"/>
            <a:ext cx="1440160" cy="34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23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15072" y="3003550"/>
            <a:ext cx="9144001" cy="2139950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55576" y="2157550"/>
            <a:ext cx="1692000" cy="169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rgbClr val="004479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51471"/>
            <a:ext cx="9144000" cy="64807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AFCF31D-C6CE-4C4C-AE5A-2A4429FEF2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699566"/>
            <a:ext cx="9143999" cy="216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con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515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bg>
      <p:bgPr>
        <a:solidFill>
          <a:srgbClr val="0044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046842" y="807554"/>
            <a:ext cx="7050317" cy="352839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403648" y="1131590"/>
            <a:ext cx="6336704" cy="28803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1043608" y="3291830"/>
            <a:ext cx="7056784" cy="533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i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uli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7F77B-C3BA-7E4A-BB0B-0BD363CB99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742" y="1661905"/>
            <a:ext cx="3252516" cy="11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27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699792" y="1851670"/>
            <a:ext cx="6444208" cy="1440160"/>
          </a:xfrm>
          <a:prstGeom prst="rect">
            <a:avLst/>
          </a:prstGeom>
          <a:solidFill>
            <a:srgbClr val="0044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31840" y="2233427"/>
            <a:ext cx="5472608" cy="39998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i="0" baseline="0">
                <a:solidFill>
                  <a:schemeClr val="bg1"/>
                </a:solidFill>
                <a:effectLst/>
                <a:latin typeface="Muli ExtraBold" panose="02000503040000020004" pitchFamily="2" charset="0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2683835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="1" i="0" baseline="0">
                <a:solidFill>
                  <a:schemeClr val="bg1"/>
                </a:solidFill>
                <a:effectLst/>
                <a:latin typeface="Muli" panose="02000503040000020004" pitchFamily="2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  <p:cxnSp>
        <p:nvCxnSpPr>
          <p:cNvPr id="13" name="Straight Arrow Connector 12"/>
          <p:cNvCxnSpPr/>
          <p:nvPr userDrawn="1"/>
        </p:nvCxnSpPr>
        <p:spPr>
          <a:xfrm>
            <a:off x="0" y="195486"/>
            <a:ext cx="9143999" cy="0"/>
          </a:xfrm>
          <a:prstGeom prst="straightConnector1">
            <a:avLst/>
          </a:prstGeom>
          <a:ln w="12700">
            <a:solidFill>
              <a:srgbClr val="004479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CE2D3B-A6B1-8942-89C9-AD0560A83053}"/>
              </a:ext>
            </a:extLst>
          </p:cNvPr>
          <p:cNvCxnSpPr/>
          <p:nvPr userDrawn="1"/>
        </p:nvCxnSpPr>
        <p:spPr>
          <a:xfrm>
            <a:off x="711746" y="4940462"/>
            <a:ext cx="8432254" cy="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5777640-31D4-854E-9973-F3A6AE6F2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09" y="3853173"/>
            <a:ext cx="771074" cy="109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287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585A1-5A93-474B-9DC1-1E060119AA18}"/>
              </a:ext>
            </a:extLst>
          </p:cNvPr>
          <p:cNvSpPr/>
          <p:nvPr userDrawn="1"/>
        </p:nvSpPr>
        <p:spPr>
          <a:xfrm>
            <a:off x="-1" y="0"/>
            <a:ext cx="4602397" cy="4323783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0F4C1C-A977-2A43-8695-ACCF7B57B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509" y="1037301"/>
            <a:ext cx="3810267" cy="1102519"/>
          </a:xfrm>
          <a:prstGeom prst="rect">
            <a:avLst/>
          </a:prstGeom>
        </p:spPr>
        <p:txBody>
          <a:bodyPr/>
          <a:lstStyle>
            <a:lvl1pPr algn="l">
              <a:defRPr sz="2600">
                <a:solidFill>
                  <a:schemeClr val="bg1"/>
                </a:solidFill>
                <a:latin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33982A-8A2C-C645-B059-D1CD8B3EE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9" y="2333872"/>
            <a:ext cx="3810267" cy="7419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5E3FED6-8E5A-ED4A-ABF0-5591A6619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7509" y="3222395"/>
            <a:ext cx="1911675" cy="4773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5128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508B2A3-9F24-8A49-B79C-150D852A7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509" y="1639051"/>
            <a:ext cx="5150653" cy="585896"/>
          </a:xfrm>
          <a:prstGeom prst="rect">
            <a:avLst/>
          </a:prstGeom>
        </p:spPr>
        <p:txBody>
          <a:bodyPr/>
          <a:lstStyle>
            <a:lvl1pPr algn="l">
              <a:defRPr sz="2600">
                <a:solidFill>
                  <a:schemeClr val="bg1"/>
                </a:solidFill>
                <a:latin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B5A559A-05E9-8149-AD08-1077C356D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9" y="2336215"/>
            <a:ext cx="5150653" cy="69043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983585-C5D5-294A-AA77-10565159E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7509" y="3222395"/>
            <a:ext cx="1911675" cy="4773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554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30D0A4-A396-4345-907B-12ABEC3DB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928" y="843558"/>
            <a:ext cx="5984565" cy="808485"/>
          </a:xfrm>
          <a:prstGeom prst="rect">
            <a:avLst/>
          </a:prstGeom>
        </p:spPr>
        <p:txBody>
          <a:bodyPr/>
          <a:lstStyle>
            <a:lvl1pPr algn="ctr">
              <a:defRPr sz="2600">
                <a:solidFill>
                  <a:schemeClr val="bg1"/>
                </a:solidFill>
                <a:latin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9B751C-8FD9-3A40-AE76-17AB11085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928" y="1653811"/>
            <a:ext cx="5984565" cy="5487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F9C023E-9514-EF4E-9EB7-CD380878E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928" y="2227748"/>
            <a:ext cx="5984565" cy="4773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85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B0EBA7-6087-E741-AAE8-2E77C5D48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512" y="1933815"/>
            <a:ext cx="6228864" cy="565928"/>
          </a:xfrm>
          <a:prstGeom prst="rect">
            <a:avLst/>
          </a:prstGeom>
        </p:spPr>
        <p:txBody>
          <a:bodyPr/>
          <a:lstStyle>
            <a:lvl1pPr algn="l">
              <a:defRPr sz="2600" b="1">
                <a:solidFill>
                  <a:schemeClr val="bg1"/>
                </a:solidFill>
                <a:latin typeface="Muli Bold"/>
                <a:cs typeface="Muli Bold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99A8CF3-1249-E34E-9D63-4B94892A0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587" y="1269833"/>
            <a:ext cx="6241789" cy="6639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0B30BAE-77A7-3741-A9DB-2FFC4B2CF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4512" y="2513813"/>
            <a:ext cx="3329416" cy="4773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81786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77107-5BA3-1343-AC3A-071FB3B2DE71}"/>
              </a:ext>
            </a:extLst>
          </p:cNvPr>
          <p:cNvCxnSpPr/>
          <p:nvPr userDrawn="1"/>
        </p:nvCxnSpPr>
        <p:spPr>
          <a:xfrm>
            <a:off x="306426" y="3471944"/>
            <a:ext cx="3328204" cy="0"/>
          </a:xfrm>
          <a:prstGeom prst="line">
            <a:avLst/>
          </a:prstGeom>
          <a:ln w="1905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5D6BF13-600F-0D45-A611-2FAB7D3B2C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426" y="1098312"/>
            <a:ext cx="3436298" cy="808485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bg1"/>
                </a:solidFill>
                <a:latin typeface="Muli Bold"/>
                <a:cs typeface="Muli Bold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10FA73-852E-F342-8F09-B608909F3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425" y="2310015"/>
            <a:ext cx="3436299" cy="6639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22BC783-D62B-554F-A383-3F5D5B826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6425" y="3669822"/>
            <a:ext cx="3436299" cy="4773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  <a:latin typeface="Muli Light"/>
                <a:cs typeface="Muli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8126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EA728D-18D2-8D41-A4DF-4E866518A85E}"/>
              </a:ext>
            </a:extLst>
          </p:cNvPr>
          <p:cNvSpPr/>
          <p:nvPr userDrawn="1"/>
        </p:nvSpPr>
        <p:spPr>
          <a:xfrm flipV="1">
            <a:off x="0" y="-19"/>
            <a:ext cx="3923928" cy="43498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15CB35-1735-1C4C-99A6-8E8F7AA8EC09}"/>
              </a:ext>
            </a:extLst>
          </p:cNvPr>
          <p:cNvCxnSpPr/>
          <p:nvPr userDrawn="1"/>
        </p:nvCxnSpPr>
        <p:spPr>
          <a:xfrm>
            <a:off x="306426" y="3471944"/>
            <a:ext cx="3328204" cy="0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EFFDBD6F-98CF-024B-A4BC-54A40F057F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426" y="1098312"/>
            <a:ext cx="3436298" cy="808485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Muli Bold"/>
                <a:cs typeface="Muli Bold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2F1269B-3B3D-2D41-8A7A-A8B1A9AB2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425" y="2310015"/>
            <a:ext cx="3436299" cy="6639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2EF71A8-081E-2540-89DF-69E433DA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6425" y="3669822"/>
            <a:ext cx="3328204" cy="4773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uli Light"/>
                <a:cs typeface="Muli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81076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11b1Nov.jpg">
            <a:extLst>
              <a:ext uri="{FF2B5EF4-FFF2-40B4-BE49-F238E27FC236}">
                <a16:creationId xmlns:a16="http://schemas.microsoft.com/office/drawing/2014/main" id="{8EF68AF8-8D08-0340-B46F-24362D46A4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0" r="12679" b="2112"/>
          <a:stretch/>
        </p:blipFill>
        <p:spPr>
          <a:xfrm>
            <a:off x="0" y="944"/>
            <a:ext cx="9138809" cy="5146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08C853-0BB3-9947-BBEB-7BFC78ABE19D}"/>
              </a:ext>
            </a:extLst>
          </p:cNvPr>
          <p:cNvSpPr/>
          <p:nvPr userDrawn="1"/>
        </p:nvSpPr>
        <p:spPr>
          <a:xfrm>
            <a:off x="5190" y="0"/>
            <a:ext cx="9138809" cy="5146760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0E95AF4-05FA-3B44-A29F-7082E4250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995" y="1491630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8ECA12-F47F-1442-BFFC-94B7E31A5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995" y="253657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912840E-0F6A-ED48-9A2B-502817EB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4878F94-83FF-FD4D-A3B0-44FD4722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5725E5-DB25-CE43-B45F-6E30DE6F4A07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91EA1AD2-8ADB-F844-AFEB-16EB56062675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UST_L4_white.eps">
              <a:extLst>
                <a:ext uri="{FF2B5EF4-FFF2-40B4-BE49-F238E27FC236}">
                  <a16:creationId xmlns:a16="http://schemas.microsoft.com/office/drawing/2014/main" id="{6C28C5BF-2116-684C-AA1A-1790C02B8D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49697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6DC59AE-4F78-F44D-A5A7-A7C448441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7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0" y="6993"/>
            <a:ext cx="9144000" cy="514350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CC2736E-AE69-A64F-8123-1A3604FD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49B8322-F8DF-5E43-ADAD-58A7A8E75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9B0B36-7BC9-0F43-9A52-A0381E4EEBDB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065EF2C6-7DB6-DE4C-B591-32DC2E5EA096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UST_L4_white.eps">
              <a:extLst>
                <a:ext uri="{FF2B5EF4-FFF2-40B4-BE49-F238E27FC236}">
                  <a16:creationId xmlns:a16="http://schemas.microsoft.com/office/drawing/2014/main" id="{075648B8-AECD-E348-ACE0-1F8792AB67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3C86726B-2B2B-8B4D-8B54-87CEE0D4F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C64934D-019E-AC41-8C89-A9FF2A96A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42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view of a building&#10;&#10;Description automatically generated">
            <a:extLst>
              <a:ext uri="{FF2B5EF4-FFF2-40B4-BE49-F238E27FC236}">
                <a16:creationId xmlns:a16="http://schemas.microsoft.com/office/drawing/2014/main" id="{E67D108F-86A7-C446-AD4A-B695A3C7E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0" y="1811"/>
            <a:ext cx="9144000" cy="514350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EE3A202-91DF-AB45-A8A1-BCF31425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0400473-8767-B94D-8EB7-599EE42F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8C7B22-E921-CF43-936F-42B309B410AA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8FF5F33-80D9-3145-89B3-0F420096E09E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UST_L4_white.eps">
              <a:extLst>
                <a:ext uri="{FF2B5EF4-FFF2-40B4-BE49-F238E27FC236}">
                  <a16:creationId xmlns:a16="http://schemas.microsoft.com/office/drawing/2014/main" id="{104AE86C-435B-2845-B895-B5356FCDBB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DFD3AECD-05A6-6547-B188-80C751B42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9B9982FB-B2F2-8D41-B284-6E4E75CEF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66155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jumping in the air&#10;&#10;Description automatically generated">
            <a:extLst>
              <a:ext uri="{FF2B5EF4-FFF2-40B4-BE49-F238E27FC236}">
                <a16:creationId xmlns:a16="http://schemas.microsoft.com/office/drawing/2014/main" id="{C41B6602-F0EC-F942-86A1-138E919612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0" y="7076"/>
            <a:ext cx="9144000" cy="5143500"/>
          </a:xfrm>
          <a:prstGeom prst="rect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0A115E2-4D28-E944-9BA0-7EB2E952D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EE5CD10-F103-0A40-9228-F30E1105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86D0BDA-D014-B94B-A2E1-43BAAC41FC8C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EB2DCAAF-36B7-424A-A3EC-4D5EA8DBC13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UST_L4_white.eps">
              <a:extLst>
                <a:ext uri="{FF2B5EF4-FFF2-40B4-BE49-F238E27FC236}">
                  <a16:creationId xmlns:a16="http://schemas.microsoft.com/office/drawing/2014/main" id="{B041F061-5838-064F-97E7-2AE56B1AF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5CFAB0CC-CDE5-5E48-BE9A-AA4292926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8F7EFBA1-76DA-CC44-8432-3F03B609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010870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racket, ball, player&#10;&#10;Description automatically generated">
            <a:extLst>
              <a:ext uri="{FF2B5EF4-FFF2-40B4-BE49-F238E27FC236}">
                <a16:creationId xmlns:a16="http://schemas.microsoft.com/office/drawing/2014/main" id="{50F42634-ADFF-264E-A430-7F95CC013C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8870" y="7076"/>
            <a:ext cx="9144000" cy="5143500"/>
          </a:xfrm>
          <a:prstGeom prst="rect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8CB9DD16-2466-8542-BFB6-2ADBBDF5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087631A-0F90-B848-B9EC-6A555B65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049FAE-9338-934E-87CC-4DE07F7D1AE7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DEDDBC13-C068-1D41-A6BF-DAD65608DBC3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UST_L4_white.eps">
              <a:extLst>
                <a:ext uri="{FF2B5EF4-FFF2-40B4-BE49-F238E27FC236}">
                  <a16:creationId xmlns:a16="http://schemas.microsoft.com/office/drawing/2014/main" id="{1A030304-46EE-4F4A-AEB3-6DA604470A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76858D4A-0B2A-584F-AA02-3FFE3DB3F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98F2F21-C407-A643-9493-C83B4F531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910653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holding, bat, player&#10;&#10;Description automatically generated">
            <a:extLst>
              <a:ext uri="{FF2B5EF4-FFF2-40B4-BE49-F238E27FC236}">
                <a16:creationId xmlns:a16="http://schemas.microsoft.com/office/drawing/2014/main" id="{7817304A-ED9F-8541-9343-29E2504E2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0" y="7076"/>
            <a:ext cx="9144000" cy="5143500"/>
          </a:xfrm>
          <a:prstGeom prst="rect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B622739-0D2E-6B4F-A05A-523F4035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1E412BB-C810-1547-913D-130C9FAC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73E6D9-0B61-FD4A-BDFA-DFBD0D20BC52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4D7DA320-2D70-4849-B02E-A7C230E99EB4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UST_L4_white.eps">
              <a:extLst>
                <a:ext uri="{FF2B5EF4-FFF2-40B4-BE49-F238E27FC236}">
                  <a16:creationId xmlns:a16="http://schemas.microsoft.com/office/drawing/2014/main" id="{68D18868-51BC-5840-AA90-4182B64649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4951ACE0-3A5F-6541-AD8F-3028A08E2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054D0E50-3364-ED41-981E-81FCD3C1E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6617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Image may contain: one or more people">
            <a:extLst>
              <a:ext uri="{FF2B5EF4-FFF2-40B4-BE49-F238E27FC236}">
                <a16:creationId xmlns:a16="http://schemas.microsoft.com/office/drawing/2014/main" id="{6375C63C-9946-D14D-90D5-59326107FF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393" b="3492"/>
          <a:stretch/>
        </p:blipFill>
        <p:spPr bwMode="auto">
          <a:xfrm>
            <a:off x="-1" y="-46050"/>
            <a:ext cx="9144001" cy="518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EC444F-CA8F-BF44-9755-1449E0AC9B8F}"/>
              </a:ext>
            </a:extLst>
          </p:cNvPr>
          <p:cNvSpPr/>
          <p:nvPr userDrawn="1"/>
        </p:nvSpPr>
        <p:spPr>
          <a:xfrm>
            <a:off x="0" y="-46051"/>
            <a:ext cx="9144000" cy="5199076"/>
          </a:xfrm>
          <a:prstGeom prst="rect">
            <a:avLst/>
          </a:prstGeom>
          <a:solidFill>
            <a:schemeClr val="tx2">
              <a:lumMod val="75000"/>
              <a:alpha val="6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61E8A1D9-72F4-264E-9740-39F452A9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FE4FD58-AAB3-DF42-979E-EC95EBDB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33B2A7-70F9-BC46-8659-573069711D4E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2FD0A99C-0DFC-C04D-A341-3650903223C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4FB37CEF-2387-5C41-AAF3-B3573DCE8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56223DC7-4EA3-D94E-8338-453FE7387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8838F89-6D7D-4640-B59A-910F78932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2582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blur&#10;&#10;Description automatically generated">
            <a:extLst>
              <a:ext uri="{FF2B5EF4-FFF2-40B4-BE49-F238E27FC236}">
                <a16:creationId xmlns:a16="http://schemas.microsoft.com/office/drawing/2014/main" id="{7FAC6AE5-DF22-2C4F-95E4-17F95E7F1A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14052" y="0"/>
            <a:ext cx="9144000" cy="514350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34EEAAB-77B9-7E47-A917-01FA9735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BCC1726-E99C-1448-BDC1-134D5CA9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FE183C-284A-BC4B-AA2A-84429558F707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4E76588E-4C92-CE44-B603-1AED1D71E69D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B7970625-86D2-D046-BF8C-A6E36248D0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B2524100-6EAB-AC4C-81BE-2D13D054A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4C3EA1CA-05DF-6E4C-B42F-980856DA5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7778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EF8DB789-51AB-6845-9621-0A8803310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CD3BA2C-510C-6049-A06A-206CE7A3A989}"/>
              </a:ext>
            </a:extLst>
          </p:cNvPr>
          <p:cNvSpPr/>
          <p:nvPr userDrawn="1"/>
        </p:nvSpPr>
        <p:spPr>
          <a:xfrm>
            <a:off x="-5190" y="16369"/>
            <a:ext cx="9144000" cy="5143499"/>
          </a:xfrm>
          <a:prstGeom prst="rect">
            <a:avLst/>
          </a:prstGeom>
          <a:solidFill>
            <a:schemeClr val="tx2">
              <a:lumMod val="50000"/>
              <a:alpha val="8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61E8A1D9-72F4-264E-9740-39F452A9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FE4FD58-AAB3-DF42-979E-EC95EBDB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33B2A7-70F9-BC46-8659-573069711D4E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2FD0A99C-0DFC-C04D-A341-3650903223C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4FB37CEF-2387-5C41-AAF3-B3573DCE8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A3DF5EF6-C263-AD40-975B-55124E6EE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5D53D1B9-92EC-DF47-B901-F7E622038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5453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BF9BB25-BE1E-5B43-8FD2-746CBA7A2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68E7BAD-1ACC-1B4B-970F-74C13F312704}"/>
              </a:ext>
            </a:extLst>
          </p:cNvPr>
          <p:cNvSpPr/>
          <p:nvPr userDrawn="1"/>
        </p:nvSpPr>
        <p:spPr>
          <a:xfrm>
            <a:off x="-4003" y="-55235"/>
            <a:ext cx="9144000" cy="5215248"/>
          </a:xfrm>
          <a:prstGeom prst="rect">
            <a:avLst/>
          </a:prstGeom>
          <a:solidFill>
            <a:schemeClr val="tx2">
              <a:lumMod val="50000"/>
              <a:alpha val="7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61E8A1D9-72F4-264E-9740-39F452A9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FE4FD58-AAB3-DF42-979E-EC95EBDB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33B2A7-70F9-BC46-8659-573069711D4E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2FD0A99C-0DFC-C04D-A341-3650903223C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4FB37CEF-2387-5C41-AAF3-B3573DCE8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8819337A-A8EC-054C-9689-225BCAB08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1CBF767-5184-6642-A764-A5158F42D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02882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itting in a room&#10;&#10;Description automatically generated">
            <a:extLst>
              <a:ext uri="{FF2B5EF4-FFF2-40B4-BE49-F238E27FC236}">
                <a16:creationId xmlns:a16="http://schemas.microsoft.com/office/drawing/2014/main" id="{9A303F32-94D3-FD4F-86D4-65A704D23A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5029"/>
          <a:stretch/>
        </p:blipFill>
        <p:spPr>
          <a:xfrm>
            <a:off x="-5482" y="0"/>
            <a:ext cx="9153383" cy="514255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68E7BAD-1ACC-1B4B-970F-74C13F312704}"/>
              </a:ext>
            </a:extLst>
          </p:cNvPr>
          <p:cNvSpPr/>
          <p:nvPr userDrawn="1"/>
        </p:nvSpPr>
        <p:spPr>
          <a:xfrm>
            <a:off x="0" y="0"/>
            <a:ext cx="9144000" cy="5142556"/>
          </a:xfrm>
          <a:prstGeom prst="rect">
            <a:avLst/>
          </a:prstGeom>
          <a:solidFill>
            <a:schemeClr val="tx2">
              <a:lumMod val="50000"/>
              <a:alpha val="8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61E8A1D9-72F4-264E-9740-39F452A9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7395" y="458062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FE4FD58-AAB3-DF42-979E-EC95EBDB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0139" y="458062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33B2A7-70F9-BC46-8659-573069711D4E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2FD0A99C-0DFC-C04D-A341-3650903223C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4FB37CEF-2387-5C41-AAF3-B3573DCE8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8819337A-A8EC-054C-9689-225BCAB08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60" y="1614774"/>
            <a:ext cx="7772400" cy="93131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1CBF767-5184-6642-A764-A5158F42D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60" y="217394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5794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50D6DC-1BEE-1943-A6D0-CD7A15FA01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356" b="7828"/>
          <a:stretch/>
        </p:blipFill>
        <p:spPr>
          <a:xfrm>
            <a:off x="0" y="-27788"/>
            <a:ext cx="9144000" cy="517034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53B1A0-F2BA-384D-9ECA-C64ADDB22D86}"/>
              </a:ext>
            </a:extLst>
          </p:cNvPr>
          <p:cNvSpPr/>
          <p:nvPr userDrawn="1"/>
        </p:nvSpPr>
        <p:spPr>
          <a:xfrm>
            <a:off x="0" y="-27788"/>
            <a:ext cx="9144000" cy="5199076"/>
          </a:xfrm>
          <a:prstGeom prst="rect">
            <a:avLst/>
          </a:prstGeom>
          <a:solidFill>
            <a:schemeClr val="tx2">
              <a:lumMod val="50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33B2A7-70F9-BC46-8659-573069711D4E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2FD0A99C-0DFC-C04D-A341-3650903223C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4FB37CEF-2387-5C41-AAF3-B3573DCE8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A4426941-7D2F-6B4E-98A1-D82462AC4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419" y="636335"/>
            <a:ext cx="7772400" cy="567263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9AFD1F9-9A10-7B46-B132-46945A143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8" y="1496971"/>
            <a:ext cx="7772399" cy="3010194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Wingdings" pitchFamily="2" charset="2"/>
              <a:buChar char="§"/>
              <a:defRPr sz="1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84611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7445C6-A880-3841-8FC9-DA42364A7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00" b="9227"/>
          <a:stretch/>
        </p:blipFill>
        <p:spPr>
          <a:xfrm>
            <a:off x="5491" y="-49559"/>
            <a:ext cx="9138509" cy="51921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BE306F-F09F-FE4D-8B4A-890F1F60B099}"/>
              </a:ext>
            </a:extLst>
          </p:cNvPr>
          <p:cNvSpPr/>
          <p:nvPr userDrawn="1"/>
        </p:nvSpPr>
        <p:spPr>
          <a:xfrm>
            <a:off x="0" y="-49559"/>
            <a:ext cx="9144000" cy="519907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33B2A7-70F9-BC46-8659-573069711D4E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2FD0A99C-0DFC-C04D-A341-3650903223CF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UST_L4_white.eps">
              <a:extLst>
                <a:ext uri="{FF2B5EF4-FFF2-40B4-BE49-F238E27FC236}">
                  <a16:creationId xmlns:a16="http://schemas.microsoft.com/office/drawing/2014/main" id="{4FB37CEF-2387-5C41-AAF3-B3573DCE8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64CA5A2A-4657-984A-B130-BBA7B5619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419" y="636335"/>
            <a:ext cx="7772400" cy="567263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3E2E080-1A76-9D44-A79E-97B85777A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8" y="1496971"/>
            <a:ext cx="7772399" cy="3010194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Wingdings" pitchFamily="2" charset="2"/>
              <a:buChar char="§"/>
              <a:defRPr sz="1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00870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AF3D3-171F-3E42-9CDA-4F8F2859F6B4}"/>
              </a:ext>
            </a:extLst>
          </p:cNvPr>
          <p:cNvSpPr/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12A5D1-281A-E848-A223-31CCFADBB3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274826"/>
            <a:ext cx="4560047" cy="931312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FFFF00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86F2F78-48D9-1E4B-8F08-DE2ADF02A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456541"/>
            <a:ext cx="4560047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0EF4CCB-E592-F04C-A508-ED677039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8CB7435-AA36-1349-B32A-F151A9E1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6C8EC5-9980-4C49-9C8C-7B71D1A2393C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F441CA85-C019-4C43-BB25-332077135117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 descr="UST_L4_white.eps">
              <a:extLst>
                <a:ext uri="{FF2B5EF4-FFF2-40B4-BE49-F238E27FC236}">
                  <a16:creationId xmlns:a16="http://schemas.microsoft.com/office/drawing/2014/main" id="{B92E52F4-5ED6-CE4F-9288-CB5F6F3430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9065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11b1Nov.jpg">
            <a:extLst>
              <a:ext uri="{FF2B5EF4-FFF2-40B4-BE49-F238E27FC236}">
                <a16:creationId xmlns:a16="http://schemas.microsoft.com/office/drawing/2014/main" id="{123D3453-3907-5F4D-A49A-CD2D3A089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0" b="2112"/>
          <a:stretch/>
        </p:blipFill>
        <p:spPr>
          <a:xfrm>
            <a:off x="7894" y="0"/>
            <a:ext cx="9178880" cy="4516505"/>
          </a:xfrm>
          <a:prstGeom prst="rect">
            <a:avLst/>
          </a:prstGeom>
        </p:spPr>
      </p:pic>
      <p:pic>
        <p:nvPicPr>
          <p:cNvPr id="25" name="Picture 24" descr="11b1Nov.jpg">
            <a:extLst>
              <a:ext uri="{FF2B5EF4-FFF2-40B4-BE49-F238E27FC236}">
                <a16:creationId xmlns:a16="http://schemas.microsoft.com/office/drawing/2014/main" id="{9D5117D1-D51C-1E46-A0F1-BBCE18237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0" b="2112"/>
          <a:stretch/>
        </p:blipFill>
        <p:spPr>
          <a:xfrm>
            <a:off x="4869" y="0"/>
            <a:ext cx="9178880" cy="4516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4F5BA1-4124-8D41-90C7-3CD244364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210"/>
            <a:ext cx="7772400" cy="93131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C3D5C46-58F5-EC4A-8CAC-36429E281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64215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920C67E-4C7B-984B-BB5E-7BD671A3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F1BA13C-B853-0540-BFF8-E41C3615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2635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ttyImages-147215398_RGB300Dpi.jpg">
            <a:extLst>
              <a:ext uri="{FF2B5EF4-FFF2-40B4-BE49-F238E27FC236}">
                <a16:creationId xmlns:a16="http://schemas.microsoft.com/office/drawing/2014/main" id="{C684426E-E8BB-7141-8B61-463E7D0F5E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8" t="1447" r="1589" b="32925"/>
          <a:stretch/>
        </p:blipFill>
        <p:spPr>
          <a:xfrm>
            <a:off x="0" y="0"/>
            <a:ext cx="9144000" cy="454269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90583-73A6-134F-B893-C3191D7AD756}"/>
              </a:ext>
            </a:extLst>
          </p:cNvPr>
          <p:cNvSpPr/>
          <p:nvPr userDrawn="1"/>
        </p:nvSpPr>
        <p:spPr>
          <a:xfrm>
            <a:off x="0" y="0"/>
            <a:ext cx="9144001" cy="4542692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AAFBBC-6648-104D-B66E-4A0698A1A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210"/>
            <a:ext cx="7772400" cy="93131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1F0EA80-C4F3-4245-B220-B912FC41E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642156"/>
            <a:ext cx="6400800" cy="10315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A8D67A4-C207-C24F-96BB-E2E0AF352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D42369C-5CC7-F049-99A4-7F78D771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5393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B58237C-0859-1543-B06B-F00793184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3" r="13707"/>
          <a:stretch/>
        </p:blipFill>
        <p:spPr>
          <a:xfrm>
            <a:off x="-1" y="-12222"/>
            <a:ext cx="5212117" cy="45097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71A761-0023-CB40-8BB8-68C6076EA929}"/>
              </a:ext>
            </a:extLst>
          </p:cNvPr>
          <p:cNvSpPr/>
          <p:nvPr userDrawn="1"/>
        </p:nvSpPr>
        <p:spPr>
          <a:xfrm flipV="1">
            <a:off x="5212116" y="-11"/>
            <a:ext cx="3931884" cy="44975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1D864D-5C29-8547-AF24-1D651CBDB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0538" y="1032187"/>
            <a:ext cx="3309734" cy="1115368"/>
          </a:xfrm>
          <a:prstGeom prst="rect">
            <a:avLst/>
          </a:prstGeom>
        </p:spPr>
        <p:txBody>
          <a:bodyPr/>
          <a:lstStyle>
            <a:lvl1pPr algn="l">
              <a:defRPr sz="3000" b="1">
                <a:solidFill>
                  <a:schemeClr val="tx2">
                    <a:lumMod val="75000"/>
                  </a:schemeClr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FD59A6-29AB-7547-B747-D714E59FF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0538" y="2491153"/>
            <a:ext cx="3251133" cy="9188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80AB4A2-49F6-7F4D-90AA-59B26B5F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892A96-A6A9-9F4A-A856-501C3807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565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AF3D3-171F-3E42-9CDA-4F8F2859F6B4}"/>
              </a:ext>
            </a:extLst>
          </p:cNvPr>
          <p:cNvSpPr/>
          <p:nvPr userDrawn="1"/>
        </p:nvSpPr>
        <p:spPr>
          <a:xfrm>
            <a:off x="0" y="0"/>
            <a:ext cx="9144001" cy="45426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12A5D1-281A-E848-A223-31CCFADBB3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274826"/>
            <a:ext cx="4560047" cy="931312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FFFF00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86F2F78-48D9-1E4B-8F08-DE2ADF02A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456541"/>
            <a:ext cx="4560047" cy="10315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0EF4CCB-E592-F04C-A508-ED677039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8CB7435-AA36-1349-B32A-F151A9E1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FFFFFF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2927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95537A-BBCC-0740-A8FD-4CC430204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D52D533-51A4-014E-82E2-226277F21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5F5BB32-0A17-744A-BF98-5BB52B7D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C03519-51BF-2147-9FE8-9E9DDCD1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599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396133-E786-D64D-90E1-34A8BE0F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483517"/>
            <a:ext cx="7859216" cy="5801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72DA36-35DB-ED43-8DD4-766A9BD93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200150"/>
            <a:ext cx="7859216" cy="3078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45F2C3D-EEE9-054C-A1D6-3709CE201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74E3E4-449E-B044-9A5E-FAE893E4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586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F33E590-CD53-A043-A6D7-DE37C5FA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>
            <a:norm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3D29B3-A120-D445-85C9-BCEDD6A9E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0C8ADD-D6BA-B84F-B55F-C93F7B04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3FAB9D1-88FA-2D49-93E8-40B588F4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764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F9AA82C-D916-1344-8B22-6961870A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367566"/>
            <a:ext cx="7859216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6CF094-E71F-F54D-AB8E-887785DD5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584" y="1200151"/>
            <a:ext cx="3668216" cy="314715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BA74720-C213-4D46-B73C-7A28B9205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8584" y="1200151"/>
            <a:ext cx="3668216" cy="314715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A864191-E915-7640-BB82-D7411051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4EDE831-2293-7A43-85C4-A28B6C22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735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872D67-C952-6C43-ADEB-A7D4A842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18" y="478849"/>
            <a:ext cx="7854381" cy="584776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C7AD202-08DE-AC4E-853E-98AF93FD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47AF1A7-15F6-1C4D-8BA2-EC65366F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943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1C5104-FD4F-F64E-9297-EA1E5553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E1D8AA-1C22-214F-A09C-23606F08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50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E3C500-D5CC-CB46-A7AE-B67EE649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C12E7FB-88A5-3547-B79B-A3BBE26F0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241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0F6A954-B4C0-A14C-ABED-5AD2CD5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41613" y="204788"/>
            <a:ext cx="5187463" cy="41132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374B676-3E5A-8440-963D-4F5BFA6F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A4881B-EE6D-D848-8782-B3956E64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80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245BA94-E526-5C48-A520-05BD5B98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356219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31BC04C-E61C-0C4F-BD71-606A45553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216144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955F882-7786-7344-926D-FD42D2968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3781669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83AB33A-31DC-B847-B12D-72F1AF466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D24FF64-CECB-D14F-8CE4-16D9EF7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633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73907CB-8704-B141-87A9-9F4D25910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922" y="1856154"/>
            <a:ext cx="3770923" cy="439615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bg1"/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4CCA59C-2B24-5740-B055-A81D5E23B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3922" y="2348035"/>
            <a:ext cx="3770923" cy="494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rgbClr val="FFFFFF"/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760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253A618-A4B0-AD44-87CB-C716EB6C7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3155" y="1416539"/>
            <a:ext cx="5177691" cy="439615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tx2">
                    <a:lumMod val="75000"/>
                  </a:schemeClr>
                </a:solidFill>
                <a:latin typeface="Muli"/>
                <a:cs typeface="Mul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890E5D2-9B2E-5849-9C30-1926C8901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3155" y="1908420"/>
            <a:ext cx="5177691" cy="4948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2">
                    <a:lumMod val="75000"/>
                  </a:schemeClr>
                </a:solidFill>
                <a:latin typeface="Muli Light"/>
                <a:cs typeface="Muli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51771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95537A-BBCC-0740-A8FD-4CC430204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D52D533-51A4-014E-82E2-226277F21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5F5BB32-0A17-744A-BF98-5BB52B7D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C03519-51BF-2147-9FE8-9E9DDCD1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184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396133-E786-D64D-90E1-34A8BE0F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483517"/>
            <a:ext cx="7859216" cy="5801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72DA36-35DB-ED43-8DD4-766A9BD93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200150"/>
            <a:ext cx="7859216" cy="3078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45F2C3D-EEE9-054C-A1D6-3709CE201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74E3E4-449E-B044-9A5E-FAE893E4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059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F33E590-CD53-A043-A6D7-DE37C5FA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>
            <a:norm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3D29B3-A120-D445-85C9-BCEDD6A9E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0C8ADD-D6BA-B84F-B55F-C93F7B04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3FAB9D1-88FA-2D49-93E8-40B588F4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373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F9AA82C-D916-1344-8B22-6961870A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367566"/>
            <a:ext cx="7859216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6CF094-E71F-F54D-AB8E-887785DD5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584" y="1200151"/>
            <a:ext cx="3668216" cy="314715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BA74720-C213-4D46-B73C-7A28B9205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8584" y="1200151"/>
            <a:ext cx="3668216" cy="314715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A864191-E915-7640-BB82-D7411051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4EDE831-2293-7A43-85C4-A28B6C22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60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872D67-C952-6C43-ADEB-A7D4A842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18" y="478849"/>
            <a:ext cx="7854381" cy="584776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C7AD202-08DE-AC4E-853E-98AF93FD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47AF1A7-15F6-1C4D-8BA2-EC65366F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529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1C5104-FD4F-F64E-9297-EA1E5553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E1D8AA-1C22-214F-A09C-23606F08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847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E3C500-D5CC-CB46-A7AE-B67EE649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C12E7FB-88A5-3547-B79B-A3BBE26F0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241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0F6A954-B4C0-A14C-ABED-5AD2CD5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41613" y="204788"/>
            <a:ext cx="5187463" cy="41132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374B676-3E5A-8440-963D-4F5BFA6F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A4881B-EE6D-D848-8782-B3956E64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958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245BA94-E526-5C48-A520-05BD5B98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356219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31BC04C-E61C-0C4F-BD71-606A45553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216144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955F882-7786-7344-926D-FD42D2968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3781669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83AB33A-31DC-B847-B12D-72F1AF466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98880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D24FF64-CECB-D14F-8CE4-16D9EF7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4698880"/>
            <a:ext cx="2133600" cy="274637"/>
          </a:xfrm>
          <a:prstGeom prst="rect">
            <a:avLst/>
          </a:prstGeom>
        </p:spPr>
        <p:txBody>
          <a:bodyPr/>
          <a:lstStyle/>
          <a:p>
            <a:fld id="{11C0C6D2-0806-7544-84E2-13A8C37B7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209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theme" Target="../theme/theme4.xml"/><Relationship Id="rId4" Type="http://schemas.openxmlformats.org/officeDocument/2006/relationships/image" Target="../media/image8.jpg"/><Relationship Id="rId5" Type="http://schemas.openxmlformats.org/officeDocument/2006/relationships/image" Target="../media/image9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5.xml"/><Relationship Id="rId4" Type="http://schemas.openxmlformats.org/officeDocument/2006/relationships/image" Target="../media/image8.jpg"/><Relationship Id="rId5" Type="http://schemas.openxmlformats.org/officeDocument/2006/relationships/image" Target="../media/image9.e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Relationship Id="rId4" Type="http://schemas.openxmlformats.org/officeDocument/2006/relationships/image" Target="../media/image10.jpeg"/><Relationship Id="rId5" Type="http://schemas.openxmlformats.org/officeDocument/2006/relationships/image" Target="../media/image9.emf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<Relationship Id="rId15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theme" Target="../theme/theme8.xml"/><Relationship Id="rId6" Type="http://schemas.openxmlformats.org/officeDocument/2006/relationships/image" Target="../media/image12.emf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theme" Target="../theme/theme9.xml"/><Relationship Id="rId10" Type="http://schemas.openxmlformats.org/officeDocument/2006/relationships/image" Target="../media/image12.emf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theme" Target="../theme/theme10.xml"/><Relationship Id="rId3" Type="http://schemas.openxmlformats.org/officeDocument/2006/relationships/image" Target="../media/image9.emf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theme" Target="../theme/theme11.xml"/><Relationship Id="rId3" Type="http://schemas.openxmlformats.org/officeDocument/2006/relationships/image" Target="../media/image26.emf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theme" Target="../theme/theme12.xml"/><Relationship Id="rId10" Type="http://schemas.openxmlformats.org/officeDocument/2006/relationships/image" Target="../media/image22.jpeg"/><Relationship Id="rId11" Type="http://schemas.openxmlformats.org/officeDocument/2006/relationships/image" Target="../media/image1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35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8" r:id="rId2"/>
    <p:sldLayoutId id="2147483724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13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70" r:id="rId4"/>
    <p:sldLayoutId id="2147483674" r:id="rId5"/>
    <p:sldLayoutId id="2147483673" r:id="rId6"/>
    <p:sldLayoutId id="2147483672" r:id="rId7"/>
    <p:sldLayoutId id="2147483675" r:id="rId8"/>
    <p:sldLayoutId id="2147483677" r:id="rId9"/>
    <p:sldLayoutId id="2147483676" r:id="rId10"/>
    <p:sldLayoutId id="2147483682" r:id="rId11"/>
    <p:sldLayoutId id="2147483694" r:id="rId12"/>
    <p:sldLayoutId id="2147483695" r:id="rId13"/>
    <p:sldLayoutId id="2147483696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78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person, indoor, sitting, looking&#10;&#10;Description automatically generated">
            <a:extLst>
              <a:ext uri="{FF2B5EF4-FFF2-40B4-BE49-F238E27FC236}">
                <a16:creationId xmlns:a16="http://schemas.microsoft.com/office/drawing/2014/main" id="{9A4BF891-650E-0144-BFE9-5FC44BEE7D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59C2CB-E4AF-C543-8C69-76AC6570E984}"/>
              </a:ext>
            </a:extLst>
          </p:cNvPr>
          <p:cNvSpPr/>
          <p:nvPr userDrawn="1"/>
        </p:nvSpPr>
        <p:spPr>
          <a:xfrm flipV="1">
            <a:off x="1" y="4335419"/>
            <a:ext cx="9143999" cy="808080"/>
          </a:xfrm>
          <a:prstGeom prst="rect">
            <a:avLst/>
          </a:prstGeom>
          <a:solidFill>
            <a:srgbClr val="003366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pic>
        <p:nvPicPr>
          <p:cNvPr id="9" name="Picture 8" descr="e_UST_L3_white.eps">
            <a:extLst>
              <a:ext uri="{FF2B5EF4-FFF2-40B4-BE49-F238E27FC236}">
                <a16:creationId xmlns:a16="http://schemas.microsoft.com/office/drawing/2014/main" id="{6624E895-A3EE-E849-B1DC-35084406CAF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4512127"/>
            <a:ext cx="1765735" cy="43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indoor, sitting, looking&#10;&#10;Description automatically generated">
            <a:extLst>
              <a:ext uri="{FF2B5EF4-FFF2-40B4-BE49-F238E27FC236}">
                <a16:creationId xmlns:a16="http://schemas.microsoft.com/office/drawing/2014/main" id="{A453BA41-7822-D940-AB62-08F80E1D0F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9CB6DF-C119-0440-B71E-0BE775858CE1}"/>
              </a:ext>
            </a:extLst>
          </p:cNvPr>
          <p:cNvSpPr/>
          <p:nvPr userDrawn="1"/>
        </p:nvSpPr>
        <p:spPr>
          <a:xfrm flipV="1">
            <a:off x="1" y="4512127"/>
            <a:ext cx="9143999" cy="631372"/>
          </a:xfrm>
          <a:prstGeom prst="rect">
            <a:avLst/>
          </a:prstGeom>
          <a:solidFill>
            <a:srgbClr val="003366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pic>
        <p:nvPicPr>
          <p:cNvPr id="9" name="Picture 8" descr="e_UST_L3_white.eps">
            <a:extLst>
              <a:ext uri="{FF2B5EF4-FFF2-40B4-BE49-F238E27FC236}">
                <a16:creationId xmlns:a16="http://schemas.microsoft.com/office/drawing/2014/main" id="{E2323653-D6E2-B14C-848F-86FD634822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1" y="4630240"/>
            <a:ext cx="1498600" cy="36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8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RAO-2019-CYT.jpg">
            <a:extLst>
              <a:ext uri="{FF2B5EF4-FFF2-40B4-BE49-F238E27FC236}">
                <a16:creationId xmlns:a16="http://schemas.microsoft.com/office/drawing/2014/main" id="{9AEE2D6C-5ACC-8847-BA6F-E7E79A9674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92" r="10457"/>
          <a:stretch/>
        </p:blipFill>
        <p:spPr>
          <a:xfrm>
            <a:off x="3266032" y="13509"/>
            <a:ext cx="5877968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DA7612-36A5-6849-9270-C5FECCA6F604}"/>
              </a:ext>
            </a:extLst>
          </p:cNvPr>
          <p:cNvSpPr/>
          <p:nvPr userDrawn="1"/>
        </p:nvSpPr>
        <p:spPr>
          <a:xfrm flipV="1">
            <a:off x="3" y="-9"/>
            <a:ext cx="3931884" cy="5143499"/>
          </a:xfrm>
          <a:prstGeom prst="rect">
            <a:avLst/>
          </a:prstGeom>
          <a:solidFill>
            <a:srgbClr val="003366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pic>
        <p:nvPicPr>
          <p:cNvPr id="9" name="Picture 8" descr="e_UST_L3_white.eps">
            <a:extLst>
              <a:ext uri="{FF2B5EF4-FFF2-40B4-BE49-F238E27FC236}">
                <a16:creationId xmlns:a16="http://schemas.microsoft.com/office/drawing/2014/main" id="{3FB1B892-51B6-6447-939A-D37A1424F61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77" y="4589713"/>
            <a:ext cx="1498600" cy="36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1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0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30" r:id="rId3"/>
    <p:sldLayoutId id="2147483731" r:id="rId4"/>
    <p:sldLayoutId id="2147483732" r:id="rId5"/>
    <p:sldLayoutId id="2147483733" r:id="rId6"/>
    <p:sldLayoutId id="2147483737" r:id="rId7"/>
    <p:sldLayoutId id="2147483734" r:id="rId8"/>
    <p:sldLayoutId id="2147483735" r:id="rId9"/>
    <p:sldLayoutId id="2147483736" r:id="rId10"/>
    <p:sldLayoutId id="2147483740" r:id="rId11"/>
    <p:sldLayoutId id="2147483738" r:id="rId12"/>
    <p:sldLayoutId id="2147483739" r:id="rId13"/>
    <p:sldLayoutId id="2147483710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6C9B5A-ECA8-A84F-ACB6-C97AFAFA1635}"/>
              </a:ext>
            </a:extLst>
          </p:cNvPr>
          <p:cNvSpPr/>
          <p:nvPr userDrawn="1"/>
        </p:nvSpPr>
        <p:spPr>
          <a:xfrm flipV="1">
            <a:off x="1" y="4512127"/>
            <a:ext cx="9143999" cy="631372"/>
          </a:xfrm>
          <a:prstGeom prst="rect">
            <a:avLst/>
          </a:prstGeom>
          <a:solidFill>
            <a:srgbClr val="003366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pic>
        <p:nvPicPr>
          <p:cNvPr id="11" name="Picture 10" descr="UST_L4_white.eps">
            <a:extLst>
              <a:ext uri="{FF2B5EF4-FFF2-40B4-BE49-F238E27FC236}">
                <a16:creationId xmlns:a16="http://schemas.microsoft.com/office/drawing/2014/main" id="{8873749A-B8A9-BC45-BD6D-05A3721158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98"/>
          <a:stretch/>
        </p:blipFill>
        <p:spPr>
          <a:xfrm>
            <a:off x="235019" y="4620199"/>
            <a:ext cx="298575" cy="4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8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6C42176-D1ED-C944-B011-D07E19E3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18" y="478849"/>
            <a:ext cx="7854382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9FBED7-6343-4E4B-84AF-5BDD1E2B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418" y="1200150"/>
            <a:ext cx="7854382" cy="3078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84CCD94-D764-BD4F-9FB8-D56F2491C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8D6DDC3-0AD5-384E-A938-96ED2F562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4F2D74-0618-A04C-8831-2A7AAEC70D67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31F73104-166D-224B-9EEC-3847B3D6B9C8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UST_L4_white.eps">
              <a:extLst>
                <a:ext uri="{FF2B5EF4-FFF2-40B4-BE49-F238E27FC236}">
                  <a16:creationId xmlns:a16="http://schemas.microsoft.com/office/drawing/2014/main" id="{A05E7277-7BDF-0B4C-B075-3FB8BAAB4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25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4479"/>
          </a:solidFill>
          <a:latin typeface="Muli" panose="0200050304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i Light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82B8E3-5EF2-7944-B3BF-9022305D476A}"/>
              </a:ext>
            </a:extLst>
          </p:cNvPr>
          <p:cNvSpPr/>
          <p:nvPr userDrawn="1"/>
        </p:nvSpPr>
        <p:spPr>
          <a:xfrm flipV="1">
            <a:off x="0" y="0"/>
            <a:ext cx="9143999" cy="51435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latin typeface="Muli"/>
            </a:endParaRPr>
          </a:p>
        </p:txBody>
      </p:sp>
      <p:pic>
        <p:nvPicPr>
          <p:cNvPr id="8" name="Picture 7" descr="e_UST_L3_white.eps">
            <a:extLst>
              <a:ext uri="{FF2B5EF4-FFF2-40B4-BE49-F238E27FC236}">
                <a16:creationId xmlns:a16="http://schemas.microsoft.com/office/drawing/2014/main" id="{9A1F1F75-6918-2F4C-A1CD-CB2C99E728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7" y="2070924"/>
            <a:ext cx="1765735" cy="43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8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e_UST4C_C3_blue.eps">
            <a:extLst>
              <a:ext uri="{FF2B5EF4-FFF2-40B4-BE49-F238E27FC236}">
                <a16:creationId xmlns:a16="http://schemas.microsoft.com/office/drawing/2014/main" id="{69C049E9-4288-374F-83BC-4AAE565356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195" y="3556001"/>
            <a:ext cx="1653610" cy="122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7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559400F-7630-5C49-A9A5-A61F89ED5F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356" b="7828"/>
          <a:stretch/>
        </p:blipFill>
        <p:spPr>
          <a:xfrm>
            <a:off x="0" y="-27788"/>
            <a:ext cx="9144000" cy="51703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26EAF8-B1AF-D443-8765-AE884C7BCB11}"/>
              </a:ext>
            </a:extLst>
          </p:cNvPr>
          <p:cNvSpPr/>
          <p:nvPr userDrawn="1"/>
        </p:nvSpPr>
        <p:spPr>
          <a:xfrm>
            <a:off x="0" y="-27788"/>
            <a:ext cx="9144000" cy="5199076"/>
          </a:xfrm>
          <a:prstGeom prst="rect">
            <a:avLst/>
          </a:prstGeom>
          <a:solidFill>
            <a:schemeClr val="tx2">
              <a:lumMod val="50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16A219-9834-DD41-9ED0-C9D93384325B}"/>
              </a:ext>
            </a:extLst>
          </p:cNvPr>
          <p:cNvGrpSpPr/>
          <p:nvPr userDrawn="1"/>
        </p:nvGrpSpPr>
        <p:grpSpPr>
          <a:xfrm>
            <a:off x="-5190" y="4167985"/>
            <a:ext cx="974571" cy="974571"/>
            <a:chOff x="5491" y="4185101"/>
            <a:chExt cx="974571" cy="974571"/>
          </a:xfrm>
        </p:grpSpPr>
        <p:sp>
          <p:nvSpPr>
            <p:cNvPr id="24" name="Right Triangle 23">
              <a:extLst>
                <a:ext uri="{FF2B5EF4-FFF2-40B4-BE49-F238E27FC236}">
                  <a16:creationId xmlns:a16="http://schemas.microsoft.com/office/drawing/2014/main" id="{D7B799BB-3776-CE46-82A9-8A39C737E253}"/>
                </a:ext>
              </a:extLst>
            </p:cNvPr>
            <p:cNvSpPr/>
            <p:nvPr/>
          </p:nvSpPr>
          <p:spPr>
            <a:xfrm>
              <a:off x="5491" y="4185101"/>
              <a:ext cx="974571" cy="974571"/>
            </a:xfrm>
            <a:prstGeom prst="rtTriangle">
              <a:avLst/>
            </a:prstGeom>
            <a:solidFill>
              <a:srgbClr val="053A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 descr="UST_L4_white.eps">
              <a:extLst>
                <a:ext uri="{FF2B5EF4-FFF2-40B4-BE49-F238E27FC236}">
                  <a16:creationId xmlns:a16="http://schemas.microsoft.com/office/drawing/2014/main" id="{C17D4FCC-F59A-E845-BFA3-0970A3E08D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6298"/>
            <a:stretch/>
          </p:blipFill>
          <p:spPr>
            <a:xfrm>
              <a:off x="199585" y="4693906"/>
              <a:ext cx="224324" cy="302687"/>
            </a:xfrm>
            <a:prstGeom prst="rect">
              <a:avLst/>
            </a:prstGeom>
          </p:spPr>
        </p:pic>
      </p:grp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6C42176-D1ED-C944-B011-D07E19E3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18" y="478849"/>
            <a:ext cx="7854382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9FBED7-6343-4E4B-84AF-5BDD1E2B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418" y="1200150"/>
            <a:ext cx="7854382" cy="3078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84CCD94-D764-BD4F-9FB8-D56F2491C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686209"/>
            <a:ext cx="2895600" cy="274637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Muli Light"/>
                <a:cs typeface="Muli Ligh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8D6DDC3-0AD5-384E-A938-96ED2F562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6944" y="4686209"/>
            <a:ext cx="2133600" cy="274637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uli"/>
              </a:defRPr>
            </a:lvl1pPr>
          </a:lstStyle>
          <a:p>
            <a:fld id="{543F94D5-381C-B041-837D-11FDDB7301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98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Muli" panose="0200050304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uli Light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2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9.png"/><Relationship Id="rId3" Type="http://schemas.openxmlformats.org/officeDocument/2006/relationships/image" Target="../media/image50.jpg"/><Relationship Id="rId4" Type="http://schemas.openxmlformats.org/officeDocument/2006/relationships/image" Target="../media/image5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>
                <a:cs typeface="Arial" pitchFamily="34" charset="0"/>
              </a:rPr>
              <a:t>Human–Robot Handover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Created by: Tong Ren     Date: 2026.11.17</a:t>
            </a:r>
            <a:r>
              <a:rPr lang="en-US" altLang="ko-KR" b="1" dirty="0">
                <a:cs typeface="Arial" pitchFamily="34" charset="0"/>
              </a:rPr>
              <a:t/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200" dirty="0"/>
              <a:t>CourseProject</a:t>
            </a:r>
            <a:r>
              <a:rPr lang="en-US" altLang="ko-KR" sz="3200" dirty="0">
                <a:ea typeface="맑은 고딕" pitchFamily="50" charset="-127"/>
              </a:rPr>
              <a:t/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0287716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latin typeface="Muli ExtraBold"/>
                <a:ea typeface="Muli ExtraBold"/>
                <a:cs typeface="Muli ExtraBold"/>
              </a:rPr>
              <a:t>Reinforcement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i="0">
                <a:latin typeface="Muli"/>
                <a:ea typeface="Muli"/>
                <a:cs typeface="Muli"/>
              </a:rPr>
              <a:t>Part 1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53FB-D8B8-1646-B472-F6FC98AE0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A chain of decisions.</a:t>
            </a:r>
            <a:endParaRPr lang="en-US"/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See  </a:t>
            </a: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8 cameras around the car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Act  </a:t>
            </a: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steer, accelerate, brake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Goal  </a:t>
            </a: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arrive safely and smoothly</a:t>
            </a:r>
          </a:p>
          <a:p>
            <a:pPr>
              <a:spcBef>
                <a:spcPts val="1600"/>
              </a:spcBef>
            </a:pPr>
            <a:r>
              <a:rPr sz="1200" b="0" i="1">
                <a:solidFill>
                  <a:srgbClr val="6B6B6B"/>
                </a:solidFill>
                <a:latin typeface="Muli"/>
                <a:ea typeface="Muli"/>
                <a:cs typeface="Muli"/>
              </a:rPr>
              <a:t>Learned mostly from human driving video. Can it get better than its teachers?</a:t>
            </a:r>
          </a:p>
        </p:txBody>
      </p:sp>
      <p:pic>
        <p:nvPicPr>
          <p:cNvPr id="4" name="Picture Placeholder 3" descr="tesla_autopilot_model_x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706" r="2706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B3CC46-4FE6-ED43-A7FE-9C79AAC48AE3}"/>
              </a:ext>
            </a:extLst>
          </p:cNvPr>
          <p:cNvSpPr txBox="1"/>
          <p:nvPr/>
        </p:nvSpPr>
        <p:spPr>
          <a:xfrm>
            <a:off x="457200" y="204788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4479"/>
                </a:solidFill>
                <a:latin typeface="Muli ExtraBold" panose="00000900000000000000" pitchFamily="2" charset="0"/>
              </a:rPr>
              <a:t>Tesla Autopilot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C4-5F4A-7347-B376-47CEF79D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3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3611880"/>
            <a:ext cx="3008313" cy="384048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uli ExtraBold"/>
                <a:ea typeface="Muli ExtraBold"/>
                <a:cs typeface="Muli ExtraBold"/>
              </a:rPr>
              <a:t>Partially observed: cameras miss things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1613" y="4354576"/>
            <a:ext cx="51874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Autopilot engaged in a Model X. Photo: Isnoop, CC BY-SA 4.0,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53FB-D8B8-1646-B472-F6FC98AE0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Beat Lee Sedol 4–1.</a:t>
            </a:r>
            <a:endParaRPr lang="en-US"/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See  </a:t>
            </a: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the whole board, nothing hidden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Act  </a:t>
            </a: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where to place the next stone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003366"/>
                </a:solidFill>
                <a:latin typeface="Muli ExtraBold"/>
                <a:ea typeface="Muli ExtraBold"/>
                <a:cs typeface="Muli ExtraBold"/>
              </a:rPr>
              <a:t>Reward  </a:t>
            </a: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+1 win, −1 loss, at the end</a:t>
            </a:r>
          </a:p>
          <a:p>
            <a:pPr>
              <a:spcBef>
                <a:spcPts val="1600"/>
              </a:spcBef>
            </a:pPr>
            <a:r>
              <a:rPr sz="1200" b="0" i="1">
                <a:solidFill>
                  <a:srgbClr val="6B6B6B"/>
                </a:solidFill>
                <a:latin typeface="Muli"/>
                <a:ea typeface="Muli"/>
                <a:cs typeface="Muli"/>
              </a:rPr>
              <a:t>Started from human games, then improved by playing against itself.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3CC46-4FE6-ED43-A7FE-9C79AAC48AE3}"/>
              </a:ext>
            </a:extLst>
          </p:cNvPr>
          <p:cNvSpPr txBox="1"/>
          <p:nvPr/>
        </p:nvSpPr>
        <p:spPr>
          <a:xfrm>
            <a:off x="457200" y="204788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4479"/>
                </a:solidFill>
                <a:latin typeface="Muli ExtraBold" panose="00000900000000000000" pitchFamily="2" charset="0"/>
              </a:rPr>
              <a:t>AlphaGo, 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C4-5F4A-7347-B376-47CEF79D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4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3611880"/>
            <a:ext cx="3008313" cy="384048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uli ExtraBold"/>
                <a:ea typeface="Muli ExtraBold"/>
                <a:cs typeface="Muli ExtraBold"/>
              </a:rPr>
              <a:t>Fully observed: the board is the state</a:t>
            </a:r>
          </a:p>
        </p:txBody>
      </p:sp>
      <p:pic>
        <p:nvPicPr>
          <p:cNvPr id="8" name="Picture 7" descr="alphago_lee_sedol_game1.png"/>
          <p:cNvPicPr>
            <a:picLocks noChangeAspect="1"/>
          </p:cNvPicPr>
          <p:nvPr/>
        </p:nvPicPr>
        <p:blipFill>
          <a:blip r:embed="rId2"/>
          <a:srcRect b="6000"/>
          <a:stretch>
            <a:fillRect/>
          </a:stretch>
        </p:blipFill>
        <p:spPr>
          <a:xfrm>
            <a:off x="4246470" y="204788"/>
            <a:ext cx="4177749" cy="41132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41613" y="4354576"/>
            <a:ext cx="51874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Lee Sedol (black) vs AlphaGo (white), Game 1. Diagram: Wesalius, CC BY-SA 4.0, Wikimedia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C4-5F4A-7347-B376-47CEF79D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lec4_termin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72" y="54864"/>
            <a:ext cx="7128256" cy="4009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4261104"/>
            <a:ext cx="66568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Sergey Levine, CS 285: Deep Reinforcement Learning, UC Berkeley, Lecture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C4-5F4A-7347-B376-47CEF79D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lec4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72" y="54864"/>
            <a:ext cx="7128256" cy="4009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4261104"/>
            <a:ext cx="66568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Sergey Levine, CS 285: Deep Reinforcement Learning, UC Berkeley, Lecture 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C4-5F4A-7347-B376-47CEF79D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markov_decision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9" y="109728"/>
            <a:ext cx="3977639" cy="31801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01769" y="3326426"/>
            <a:ext cx="3977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Markov decision process. Diagram: waldoalvarez, CC BY-SA 4.0, Wikimedia Commons</a:t>
            </a:r>
          </a:p>
        </p:txBody>
      </p:sp>
      <p:pic>
        <p:nvPicPr>
          <p:cNvPr id="9" name="Picture 8" descr="lec4_mdp_def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415568"/>
            <a:ext cx="4800601" cy="34619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4261104"/>
            <a:ext cx="66568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Sergey Levine, CS 285: Deep Reinforcement Learning, UC Berkeley, Lecture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B22A12B2-4D0D-9643-88C6-CD7D6B3A7850}"/>
              </a:ext>
            </a:extLst>
          </p:cNvPr>
          <p:cNvSpPr txBox="1"/>
          <p:nvPr/>
        </p:nvSpPr>
        <p:spPr>
          <a:xfrm>
            <a:off x="832419" y="483518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4479"/>
                </a:solidFill>
                <a:latin typeface="Muli ExtraBold" panose="00000900000000000000" pitchFamily="2" charset="0"/>
              </a:rPr>
              <a:t>Algorithm families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00600" y="621792"/>
            <a:ext cx="39776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Bold names are used in this course.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70432"/>
          <a:ext cx="8412479" cy="2907790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3977639"/>
                <a:gridCol w="2880360"/>
              </a:tblGrid>
              <a:tr h="290779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Axis</a:t>
                      </a:r>
                    </a:p>
                  </a:txBody>
                  <a:tcPr anchor="ctr" marL="73152" marR="54864" marT="18288" marB="18288">
                    <a:solidFill>
                      <a:srgbClr val="003366"/>
                    </a:solidFill>
                    <a:lnL w="6350" cap="flat" cmpd="sng" algn="ctr">
                      <a:solidFill>
                        <a:srgbClr val="003366"/>
                      </a:solidFill>
                      <a:prstDash val="solid"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</a:lnT>
                    <a:lnB w="6350" cap="flat" cmpd="sng" algn="ctr">
                      <a:solidFill>
                        <a:srgbClr val="003366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Type</a:t>
                      </a:r>
                    </a:p>
                  </a:txBody>
                  <a:tcPr anchor="ctr" marL="73152" marR="54864" marT="18288" marB="18288">
                    <a:solidFill>
                      <a:srgbClr val="003366"/>
                    </a:solidFill>
                    <a:lnL w="6350" cap="flat" cmpd="sng" algn="ctr">
                      <a:solidFill>
                        <a:srgbClr val="003366"/>
                      </a:solidFill>
                      <a:prstDash val="solid"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</a:lnT>
                    <a:lnB w="6350" cap="flat" cmpd="sng" algn="ctr">
                      <a:solidFill>
                        <a:srgbClr val="003366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Representative algorithms</a:t>
                      </a:r>
                    </a:p>
                  </a:txBody>
                  <a:tcPr anchor="ctr" marL="73152" marR="54864" marT="18288" marB="18288">
                    <a:solidFill>
                      <a:srgbClr val="003366"/>
                    </a:solidFill>
                    <a:lnL w="6350" cap="flat" cmpd="sng" algn="ctr">
                      <a:solidFill>
                        <a:srgbClr val="003366"/>
                      </a:solidFill>
                      <a:prstDash val="solid"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</a:lnT>
                    <a:lnB w="6350" cap="flat" cmpd="sng" algn="ctr">
                      <a:solidFill>
                        <a:srgbClr val="003366"/>
                      </a:solidFill>
                      <a:prstDash val="solid"/>
                    </a:lnB>
                  </a:tcPr>
                </a:tc>
              </a:tr>
              <a:tr h="290779">
                <a:tc rowSpan="2"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Model</a:t>
                      </a:r>
                    </a:p>
                  </a:txBody>
                  <a:tcPr anchor="ctr" marL="73152" marR="54864" marT="18288" marB="18288"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Model-based. Plan with a known or learned model.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MPC, PETS, MuZero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Model-free. Learn from samples only.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DQN,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PPO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SAC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TD3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rowSpan="3"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What is learned</a:t>
                      </a:r>
                    </a:p>
                  </a:txBody>
                  <a:tcPr anchor="ctr" marL="73152" marR="54864" marT="18288" marB="18288"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Value-based. Learn Q or V only.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Q-learning, DQN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Policy-based. Learn the policy only.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REINFORCE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Actor-critic. Learn a policy and a value together.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A2C,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PPO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, DDPG,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TD3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SAC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rowSpan="2"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Data reuse</a:t>
                      </a:r>
                    </a:p>
                  </a:txBody>
                  <a:tcPr anchor="ctr" marL="73152" marR="54864" marT="18288" marB="18288"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On-policy. Use only the current policy's data.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REINFORCE, A2C, TRPO,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PPO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Off-policy. Reuse past data from a replay buffer.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DQN, DDPG,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TD3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SAC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rowSpan="2"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Policy</a:t>
                      </a:r>
                    </a:p>
                  </a:txBody>
                  <a:tcPr anchor="ctr" marL="73152" marR="54864" marT="18288" marB="18288"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Stochastic. One state can yield different actions.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A2C,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PPO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SAC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  <a:tr h="29077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4F7FA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Deterministic. One state maps to one action.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Muli"/>
                          <a:ea typeface="Muli"/>
                          <a:cs typeface="Muli"/>
                        </a:rPr>
                        <a:t>DDPG, </a:t>
                      </a:r>
                      <a:r>
                        <a:rPr sz="1200" b="1" i="0">
                          <a:solidFill>
                            <a:srgbClr val="003366"/>
                          </a:solidFill>
                          <a:latin typeface="Muli"/>
                          <a:ea typeface="Muli"/>
                          <a:cs typeface="Muli"/>
                        </a:rPr>
                        <a:t>TD3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5DCE3"/>
                      </a:solidFill>
                      <a:prstDash val="soli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DB52FD-79AB-A144-A796-BDD07D11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83518"/>
            <a:ext cx="8424936" cy="85725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Muli ExtraBold" panose="00000900000000000000" pitchFamily="2" charset="0"/>
              </a:rPr>
              <a:t>Four ideas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4960F-C3A8-034D-B4A7-14A061793B19}"/>
              </a:ext>
            </a:extLst>
          </p:cNvPr>
          <p:cNvSpPr txBox="1"/>
          <p:nvPr/>
        </p:nvSpPr>
        <p:spPr>
          <a:xfrm>
            <a:off x="242555" y="1789758"/>
            <a:ext cx="2053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D19809"/>
                </a:solidFill>
                <a:latin typeface="Muli ExtraBold" panose="00000900000000000000" pitchFamily="2" charset="0"/>
              </a:rPr>
              <a:t>On-policy</a:t>
            </a:r>
          </a:p>
          <a:p>
            <a:endParaRPr lang="en-US" sz="1200" dirty="0">
              <a:latin typeface="Muli" panose="00000500000000000000" pitchFamily="2" charset="0"/>
            </a:endParaRPr>
          </a:p>
          <a:p>
            <a:r>
              <a:rPr lang="en-US" sz="1100" dirty="0">
                <a:latin typeface="Muli" panose="00000500000000000000" pitchFamily="2" charset="0"/>
              </a:rPr>
              <a:t>Current policy only. PPO.</a:t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endParaRPr lang="en-US" sz="1100" dirty="0">
              <a:latin typeface="Muli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E9BE7-189D-6647-925F-A5593F33E580}"/>
              </a:ext>
            </a:extLst>
          </p:cNvPr>
          <p:cNvSpPr/>
          <p:nvPr/>
        </p:nvSpPr>
        <p:spPr>
          <a:xfrm>
            <a:off x="6768175" y="1789758"/>
            <a:ext cx="2314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D19809"/>
                </a:solidFill>
                <a:latin typeface="Muli ExtraBold" panose="00000900000000000000" pitchFamily="2" charset="0"/>
              </a:rPr>
              <a:t>Exploit</a:t>
            </a:r>
          </a:p>
          <a:p>
            <a:endParaRPr lang="en-US" sz="1200" dirty="0">
              <a:latin typeface="Muli" panose="00000500000000000000" pitchFamily="2" charset="0"/>
            </a:endParaRPr>
          </a:p>
          <a:p>
            <a:r>
              <a:rPr lang="en-US" sz="1100" dirty="0">
                <a:latin typeface="Muli" panose="00000500000000000000" pitchFamily="2" charset="0"/>
              </a:rPr>
              <a:t>Use the best policy.</a:t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endParaRPr lang="en-US" sz="1100" dirty="0">
              <a:latin typeface="Muli" panose="00000500000000000000" pitchFamily="2" charset="0"/>
            </a:endParaRPr>
          </a:p>
          <a:p>
            <a:endParaRPr lang="en-US" sz="120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C3F46-D157-6147-871A-72A45E5DD66C}"/>
              </a:ext>
            </a:extLst>
          </p:cNvPr>
          <p:cNvSpPr txBox="1"/>
          <p:nvPr/>
        </p:nvSpPr>
        <p:spPr>
          <a:xfrm>
            <a:off x="4464050" y="1789758"/>
            <a:ext cx="224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D19809"/>
                </a:solidFill>
                <a:latin typeface="Muli ExtraBold" panose="00000900000000000000" pitchFamily="2" charset="0"/>
              </a:rPr>
              <a:t>Explore</a:t>
            </a:r>
          </a:p>
          <a:p>
            <a:endParaRPr lang="en-US" sz="1200" dirty="0">
              <a:latin typeface="Muli" panose="00000500000000000000" pitchFamily="2" charset="0"/>
            </a:endParaRPr>
          </a:p>
          <a:p>
            <a:r>
              <a:rPr lang="en-US" sz="1100" dirty="0">
                <a:latin typeface="Muli" panose="00000500000000000000" pitchFamily="2" charset="0"/>
              </a:rPr>
              <a:t>Entropy bonus in SAC.</a:t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endParaRPr lang="en-US" sz="1100" dirty="0">
              <a:latin typeface="Muli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3B975-A3D2-754B-9D1D-9E3E6DB1AB73}"/>
              </a:ext>
            </a:extLst>
          </p:cNvPr>
          <p:cNvSpPr txBox="1"/>
          <p:nvPr/>
        </p:nvSpPr>
        <p:spPr>
          <a:xfrm>
            <a:off x="2482983" y="1789758"/>
            <a:ext cx="1851244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D19809"/>
                </a:solidFill>
                <a:latin typeface="Muli ExtraBold" panose="00000900000000000000" pitchFamily="2" charset="0"/>
              </a:rPr>
              <a:t>Off-policy</a:t>
            </a:r>
          </a:p>
          <a:p>
            <a:endParaRPr lang="en-US" sz="1200" dirty="0">
              <a:latin typeface="Muli" panose="00000500000000000000" pitchFamily="2" charset="0"/>
            </a:endParaRPr>
          </a:p>
          <a:p>
            <a:r>
              <a:rPr lang="en-US" sz="1100" dirty="0">
                <a:latin typeface="Muli" panose="00000500000000000000" pitchFamily="2" charset="0"/>
              </a:rPr>
              <a:t>Replay buffer. SAC and TD3.</a:t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r>
              <a:rPr lang="en-US" sz="1100" dirty="0">
                <a:latin typeface="Muli" panose="00000500000000000000" pitchFamily="2" charset="0"/>
              </a:rPr>
              <a:t/>
            </a:r>
            <a:r>
              <a:rPr lang="en-US" sz="1100" dirty="0" err="1">
                <a:latin typeface="Muli" panose="00000500000000000000" pitchFamily="2" charset="0"/>
              </a:rPr>
              <a:t/>
            </a:r>
            <a:endParaRPr lang="en-US" sz="1100" dirty="0">
              <a:latin typeface="Muli" panose="000005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025118-C076-4C4F-B76F-7E1C0F8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EF433-2C52-1A4D-B0C0-BA2DC8040A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000" b="1" i="0">
                <a:latin typeface="Muli ExtraBold"/>
                <a:ea typeface="Muli ExtraBold"/>
                <a:cs typeface="Muli ExtraBold"/>
              </a:rPr>
              <a:t>PPO</a:t>
            </a:r>
            <a:endParaRPr lang="en-US"/>
          </a:p>
          <a:p>
            <a:r>
              <a:rPr sz="1600" b="0" i="0">
                <a:latin typeface="Muli"/>
                <a:ea typeface="Muli"/>
                <a:cs typeface="Muli"/>
              </a:rPr>
              <a:t>On-policy</a:t>
            </a:r>
          </a:p>
          <a:p>
            <a:r>
              <a:rPr sz="1600" b="0" i="0">
                <a:latin typeface="Muli"/>
                <a:ea typeface="Muli"/>
                <a:cs typeface="Muli"/>
              </a:rPr>
              <a:t>Fresh data each update</a:t>
            </a:r>
          </a:p>
          <a:p>
            <a:r>
              <a:rPr sz="1600" b="0" i="0">
                <a:latin typeface="Muli"/>
                <a:ea typeface="Muli"/>
                <a:cs typeface="Muli"/>
              </a:rPr>
              <a:t>Stable, easy default</a:t>
            </a:r>
          </a:p>
          <a:p>
            <a:r>
              <a:rPr sz="1600" b="0" i="0">
                <a:latin typeface="Muli"/>
                <a:ea typeface="Muli"/>
                <a:cs typeface="Muli"/>
              </a:rPr>
              <a:t>Notebook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05358-5030-004A-AE0D-06DF7796DE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000" b="1" i="0">
                <a:latin typeface="Muli ExtraBold"/>
                <a:ea typeface="Muli ExtraBold"/>
                <a:cs typeface="Muli ExtraBold"/>
              </a:rPr>
              <a:t>SAC  (and TD3)</a:t>
            </a:r>
            <a:endParaRPr lang="en-US"/>
          </a:p>
          <a:p>
            <a:r>
              <a:rPr sz="1600" b="0" i="0">
                <a:latin typeface="Muli"/>
                <a:ea typeface="Muli"/>
                <a:cs typeface="Muli"/>
              </a:rPr>
              <a:t>Off-policy, replay buffer</a:t>
            </a:r>
          </a:p>
          <a:p>
            <a:r>
              <a:rPr sz="1600" b="0" i="0">
                <a:latin typeface="Muli"/>
                <a:ea typeface="Muli"/>
                <a:cs typeface="Muli"/>
              </a:rPr>
              <a:t>Strong on continuous control</a:t>
            </a:r>
          </a:p>
          <a:p>
            <a:r>
              <a:rPr sz="1600" b="0" i="0">
                <a:latin typeface="Muli"/>
                <a:ea typeface="Muli"/>
                <a:cs typeface="Muli"/>
              </a:rPr>
              <a:t>We train handover with SAC</a:t>
            </a:r>
          </a:p>
          <a:p>
            <a:r>
              <a:rPr sz="1600" b="0" i="0">
                <a:latin typeface="Muli"/>
                <a:ea typeface="Muli"/>
                <a:cs typeface="Muli"/>
              </a:rPr>
              <a:t>TD3: deterministic 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93476-80A9-9244-B83A-0F2F65894A49}"/>
              </a:ext>
            </a:extLst>
          </p:cNvPr>
          <p:cNvSpPr txBox="1"/>
          <p:nvPr/>
        </p:nvSpPr>
        <p:spPr>
          <a:xfrm>
            <a:off x="832419" y="483518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4479"/>
                </a:solidFill>
                <a:latin typeface="Muli ExtraBold" panose="00000900000000000000" pitchFamily="2" charset="0"/>
              </a:rPr>
              <a:t>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C7145-7D79-CE41-9840-7E9BCB93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B22A12B2-4D0D-9643-88C6-CD7D6B3A7850}"/>
              </a:ext>
            </a:extLst>
          </p:cNvPr>
          <p:cNvSpPr txBox="1"/>
          <p:nvPr/>
        </p:nvSpPr>
        <p:spPr>
          <a:xfrm>
            <a:off x="832419" y="483518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4479"/>
                </a:solidFill>
                <a:latin typeface="Muli ExtraBold" panose="00000900000000000000" pitchFamily="2" charset="0"/>
              </a:rPr>
              <a:t>How we train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A34CD-49C3-7249-8283-CA48F9533506}"/>
              </a:ext>
            </a:extLst>
          </p:cNvPr>
          <p:cNvSpPr txBox="1"/>
          <p:nvPr/>
        </p:nvSpPr>
        <p:spPr>
          <a:xfrm>
            <a:off x="832419" y="1496971"/>
            <a:ext cx="661613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SB3: SAC("MlpPolicy", env).learn(…).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Test with predict(obs, deterministic=True).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Handover setup: learning_starts 1000.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Entropy coefficient ent_coef = 0.005.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B22A12B2-4D0D-9643-88C6-CD7D6B3A7850}"/>
              </a:ext>
            </a:extLst>
          </p:cNvPr>
          <p:cNvSpPr txBox="1"/>
          <p:nvPr/>
        </p:nvSpPr>
        <p:spPr>
          <a:xfrm>
            <a:off x="832419" y="483518"/>
            <a:ext cx="3895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4479"/>
                </a:solidFill>
                <a:latin typeface="Muli ExtraBold" panose="00000900000000000000" pitchFamily="2" charset="0"/>
              </a:rPr>
              <a:t>Check the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A34CD-49C3-7249-8283-CA48F9533506}"/>
              </a:ext>
            </a:extLst>
          </p:cNvPr>
          <p:cNvSpPr txBox="1"/>
          <p:nvPr/>
        </p:nvSpPr>
        <p:spPr>
          <a:xfrm>
            <a:off x="832419" y="1496971"/>
            <a:ext cx="661613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The same reward can fail on another seed.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Save checkpoints and read the learning curve.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Evaluate in simulation before the live demo.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Muli" panose="00000500000000000000" pitchFamily="2" charset="0"/>
              </a:rPr>
              <a:t>Notebook Part 6 is this loop on our env.</a:t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  <a:r>
              <a:rPr lang="en-US" sz="1400" dirty="0" err="1">
                <a:latin typeface="Muli" panose="00000500000000000000" pitchFamily="2" charset="0"/>
              </a:rPr>
              <a:t/>
            </a:r>
            <a:r>
              <a:rPr lang="en-US" sz="1400" dirty="0">
                <a:latin typeface="Muli" panose="00000500000000000000" pitchFamily="2" charset="0"/>
              </a:rPr>
              <a:t/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latin typeface="Muli ExtraBold"/>
                <a:ea typeface="Muli ExtraBold"/>
                <a:cs typeface="Muli ExtraBold"/>
              </a:rPr>
              <a:t>Simulation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i="0">
                <a:latin typeface="Muli"/>
                <a:ea typeface="Muli"/>
                <a:cs typeface="Muli"/>
              </a:rPr>
              <a:t>Part 2 of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Why simulation?</a:t>
            </a:r>
          </a:p>
        </p:txBody>
      </p:sp>
      <p:pic>
        <p:nvPicPr>
          <p:cNvPr id="4" name="atlas_fai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7472" y="841248"/>
            <a:ext cx="4096512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236976"/>
            <a:ext cx="4096512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Example 1: testing a controller on an expensive robot without knowing if it will crash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3950208"/>
            <a:ext cx="40965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Boston Dynamics, Farewell to HD Atlas, YouTube, 2024.</a:t>
            </a:r>
          </a:p>
        </p:txBody>
      </p:sp>
      <p:pic>
        <p:nvPicPr>
          <p:cNvPr id="7" name="Picture 6" descr="dactyl_han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841248"/>
            <a:ext cx="4096512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81728" y="3236976"/>
            <a:ext cx="4096512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Example 2: an RL policy that needed about 13,000 years of experience in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3950208"/>
            <a:ext cx="40965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OpenAI Dactyl, Rubik's Cube, 2019. Photo: Shadow Hand, CC BY-SA 3.0.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Framework after Kaifeng Zhang, COMS4733 Lecture 13, Columbia University.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What simulation offers</a:t>
            </a:r>
          </a:p>
        </p:txBody>
      </p:sp>
      <p:pic>
        <p:nvPicPr>
          <p:cNvPr id="4" name="Picture 3" descr="nv_wareho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841248"/>
            <a:ext cx="4096512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2258568"/>
            <a:ext cx="409651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Bridging design and reality</a:t>
            </a:r>
          </a:p>
        </p:txBody>
      </p:sp>
      <p:pic>
        <p:nvPicPr>
          <p:cNvPr id="6" name="Picture 5" descr="nv_frank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841248"/>
            <a:ext cx="4096512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81728" y="2258568"/>
            <a:ext cx="409651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Safe and repeatable testing</a:t>
            </a:r>
          </a:p>
        </p:txBody>
      </p:sp>
      <p:pic>
        <p:nvPicPr>
          <p:cNvPr id="8" name="Picture 7" descr="nv_sca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697480"/>
            <a:ext cx="4096512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" y="4114800"/>
            <a:ext cx="409651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Scalability</a:t>
            </a:r>
          </a:p>
        </p:txBody>
      </p:sp>
      <p:pic>
        <p:nvPicPr>
          <p:cNvPr id="10" name="Picture 9" descr="nv_tru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697480"/>
            <a:ext cx="4096512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1728" y="4114800"/>
            <a:ext cx="409651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Access to ground truth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370832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Images: NVIDIA Isaac Sim, Isaac Gym, and Factory. NVIDIA Technical Blog.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Robotic simulation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0467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Classical control verification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Study the performance, stability, and robustness of control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80467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Data generation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Generating large datasets for robot policy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80467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Evaluation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Benchmark algorithms under controlled, repeatable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80467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Design and prototyping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Rapidly test robot morphology, sensor placement, or gripper designs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Components of a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868680"/>
            <a:ext cx="42062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941832"/>
            <a:ext cx="3931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Physics Engine</a:t>
            </a:r>
          </a:p>
        </p:txBody>
      </p:sp>
      <p:pic>
        <p:nvPicPr>
          <p:cNvPr id="6" name="Picture 5" descr="comp_phys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4168"/>
            <a:ext cx="1554480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21408" y="1344168"/>
            <a:ext cx="2194559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Rigid, articulated, deformable, …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Speed: CPU/GPU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868680"/>
            <a:ext cx="42062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941832"/>
            <a:ext cx="3931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Renderer</a:t>
            </a:r>
          </a:p>
        </p:txBody>
      </p:sp>
      <p:pic>
        <p:nvPicPr>
          <p:cNvPr id="10" name="Picture 9" descr="comp_render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344168"/>
            <a:ext cx="1554480" cy="1078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3952" y="1344168"/>
            <a:ext cx="2194559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Method: rasterization, path tracing, …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Lighting, texture, …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" y="2724912"/>
            <a:ext cx="42062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798064"/>
            <a:ext cx="3931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Sensor Simulation</a:t>
            </a:r>
          </a:p>
        </p:txBody>
      </p:sp>
      <p:pic>
        <p:nvPicPr>
          <p:cNvPr id="14" name="Picture 13" descr="comp_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1554480" cy="1078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21408" y="3200400"/>
            <a:ext cx="2194559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RGB camera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Depth/LiDAR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Robot states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Tactile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2724912"/>
            <a:ext cx="42062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798064"/>
            <a:ext cx="39319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User Interface</a:t>
            </a:r>
          </a:p>
        </p:txBody>
      </p:sp>
      <p:pic>
        <p:nvPicPr>
          <p:cNvPr id="18" name="Picture 17" descr="comp_u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200400"/>
            <a:ext cx="1554480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73952" y="3200400"/>
            <a:ext cx="2194559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Scene setup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API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Policy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526280"/>
            <a:ext cx="7589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Images: MuJoCo documentation (Google DeepMind); robosuite documentation.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The step()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82296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Update the simulation state from  t  to  t + Δt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Physics step: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Detecting collision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Solving physics (resolve collision, evolve dynamics)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Time integration</a:t>
            </a:r>
          </a:p>
        </p:txBody>
      </p:sp>
      <p:pic>
        <p:nvPicPr>
          <p:cNvPr id="5" name="Picture 4" descr="ner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9968"/>
            <a:ext cx="78638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" y="4443984"/>
            <a:ext cx="76809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Xu, J., Heiden, E., Akinola, I., Fox, D., Macklin, M., and Narang, Y. Neural Robot Dynamics. arXiv:2508.15755, 2025. Fig. 2(a).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The render()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420624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Get rendering and other sensor readings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Rendering step: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Sending simulation states to the renderer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Run rendering algorithm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Update viewer (if interactive)</a:t>
            </a:r>
          </a:p>
        </p:txBody>
      </p:sp>
      <p:pic>
        <p:nvPicPr>
          <p:cNvPr id="5" name="Picture 4" descr="render_hand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51560"/>
            <a:ext cx="402336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3566160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robosuite TwoArmHandover. robosuite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Major robotic simulators</a:t>
            </a:r>
          </a:p>
        </p:txBody>
      </p:sp>
      <p:pic>
        <p:nvPicPr>
          <p:cNvPr id="4" name="Picture 3" descr="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4023360" cy="1005840"/>
          </a:xfrm>
          <a:prstGeom prst="rect">
            <a:avLst/>
          </a:prstGeom>
        </p:spPr>
      </p:pic>
      <p:pic>
        <p:nvPicPr>
          <p:cNvPr id="5" name="Picture 4" descr="isa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42415"/>
            <a:ext cx="4023360" cy="1207008"/>
          </a:xfrm>
          <a:prstGeom prst="rect">
            <a:avLst/>
          </a:prstGeom>
        </p:spPr>
      </p:pic>
      <p:pic>
        <p:nvPicPr>
          <p:cNvPr id="6" name="Picture 5" descr="sapi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22" y="2651760"/>
            <a:ext cx="3673435" cy="1554480"/>
          </a:xfrm>
          <a:prstGeom prst="rect">
            <a:avLst/>
          </a:prstGeom>
        </p:spPr>
      </p:pic>
      <p:pic>
        <p:nvPicPr>
          <p:cNvPr id="7" name="Picture 6" descr="gene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907856"/>
            <a:ext cx="4023360" cy="1042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" y="4370832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Logos: MuJoCo (Google DeepMind); NVIDIA Isaac Lab; SAPIEN (UCSD); Genesis.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MuJoCo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04672"/>
            <a:ext cx="429768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Multi-Joint dynamics with Contact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A physics engine for robotics, biomechanics, and machine learning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Written at the University of Washington, 2012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      Todorov, Erez, and Tassa, IROS 2012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Sold as Roboti LLC, then acquired by DeepMind in 2021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Open-sourced in 2022 under Apache 2.0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Physics engine: MuJoCo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Rendering: rasterization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804672"/>
            <a:ext cx="402336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Strengths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Fast CPU physics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Smooth contact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Light interface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Weaknesses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Limited rendering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Single thread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MJX / MJWarp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Multi-thread, GPU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443984"/>
            <a:ext cx="76809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Wikipedia, “MuJoCo.” Todorov, Erez, and Tassa, IROS 2012.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Other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04672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OpenAI Gym  /</a:t>
            </a:r>
          </a:p>
        </p:txBody>
      </p:sp>
      <p:pic>
        <p:nvPicPr>
          <p:cNvPr id="5" name="Picture 4" descr="gymna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89" y="804672"/>
            <a:ext cx="17145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1298448"/>
            <a:ext cx="416052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An API standard for reinforcement learning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Core: Step function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Policy rollout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Env stepping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•  Obtain observation and reward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Also: Render, Make, Reset</a:t>
            </a:r>
          </a:p>
        </p:txBody>
      </p:sp>
      <p:pic>
        <p:nvPicPr>
          <p:cNvPr id="7" name="Picture 6" descr="gym_env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86384"/>
            <a:ext cx="4114800" cy="1536192"/>
          </a:xfrm>
          <a:prstGeom prst="rect">
            <a:avLst/>
          </a:prstGeom>
        </p:spPr>
      </p:pic>
      <p:pic>
        <p:nvPicPr>
          <p:cNvPr id="8" name="Picture 7" descr="gym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679" y="2377440"/>
            <a:ext cx="2394321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3440" y="4517136"/>
            <a:ext cx="4114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Gymnasium, Farama Foundation. Environment stills from Gymnasium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Kaifeng Zhang, COMS4733 Lecture 13, Columbia University.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latin typeface="Muli ExtraBold"/>
                <a:ea typeface="Muli ExtraBold"/>
                <a:cs typeface="Muli ExtraBold"/>
              </a:rPr>
              <a:t>Course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i="0">
                <a:latin typeface="Muli"/>
                <a:ea typeface="Muli"/>
                <a:cs typeface="Muli"/>
              </a:rPr>
              <a:t>Part 3 of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Set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4114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3366"/>
                </a:solidFill>
                <a:latin typeface="Muli"/>
                <a:ea typeface="Muli"/>
                <a:cs typeface="Muli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42415"/>
            <a:ext cx="41148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macOS, Linux, or Windows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8 GB RAM, a few GB of disk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GPU optional; CPU is enough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to open the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749808"/>
            <a:ext cx="4114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3366"/>
                </a:solidFill>
                <a:latin typeface="Muli"/>
                <a:ea typeface="Muli"/>
                <a:cs typeface="Muli"/>
              </a:rPr>
              <a:t>Get the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42415"/>
            <a:ext cx="41148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Clone CourseProj from GitHub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Conda, Python 3.10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pip installs local robosuite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Then open the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395728"/>
            <a:ext cx="8394192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05456"/>
            <a:ext cx="8046720" cy="1627632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git clone https://github.com/RentonRen/CourseProj.git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cd CourseProj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conda create -n courseproj python=3.10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conda activate courseproj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jupyter notebook hri_handover_tutorial.ipynb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62272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Windows: create C:\tmp, copy mujoco.dll into robosuite/utils, set MUJOCO_GL=wgl.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Notebook: hri_handover_tutorial.ipynb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The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04672"/>
            <a:ext cx="4892040" cy="36118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4663440" cy="3429000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env = suite.make(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env_name="HumanRobotHandover",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robots="XArm7Handover",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has_renderer=False,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has_offscreen_renderer=True,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use_camera_obs=True,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horizon=300,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control_freq=20,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reward_shaping=False,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initialization_noise=None,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seed=0,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hard_reset=False,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env.start_holding 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841248"/>
            <a:ext cx="338328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One XArm7, hammer in hand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20 Hz, 300 steps, 15 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Headless images in memory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Cameras on for the tour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Sparse reward at first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seed=0, held start pose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Later: cameras off,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reward_shaping=True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Notebook: hri_handover_tutorial.ipynb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A26B28D1-AE82-6440-B2E0-58C24FE95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9B2EA-9EFD-C14B-A5B9-D71CC7B35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3922" y="2499742"/>
            <a:ext cx="3770923" cy="494811"/>
          </a:xfrm>
        </p:spPr>
        <p:txBody>
          <a:bodyPr/>
          <a:lstStyle/>
          <a:p>
            <a:r>
              <a:rPr lang="en-US" dirty="0"/>
              <a:t>For further information: xx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robosuite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4343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A robotics library built on MuJoCo.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It provides: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Ready-made robot arms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Panda, XArm7, UR5e, …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Ready-made manipulation tasks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Lift, Pick-and-Place, Assembly, …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Cameras, sensors, and a standard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observation / action interface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Built-in scenes to test as-is,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or change a little and retest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108960"/>
            <a:ext cx="4343400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18688"/>
            <a:ext cx="4114800" cy="1005840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obs = env.reset()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obs, reward, done, info = env.step(action)</a:t>
            </a:r>
          </a:p>
        </p:txBody>
      </p:sp>
      <p:pic>
        <p:nvPicPr>
          <p:cNvPr id="7" name="Picture 6" descr="part0_im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80619"/>
            <a:ext cx="3977639" cy="2457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00600" y="4096512"/>
            <a:ext cx="397763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Part 0 of hri_handover_tutorial.ipynb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370832"/>
            <a:ext cx="5669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Zhu et al., robosuite. arXiv:2009.12293, 2020. 2017 Stanford SVL; now ARISE.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Notebook: hri_handover_tutorial.ipynb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EB20-D95A-5B48-80C5-4E3BA916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C6D2-0806-7544-84E2-13A8C37B7D3D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8321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262626"/>
                </a:solidFill>
                <a:latin typeface="Muli ExtraBold"/>
                <a:ea typeface="Muli"/>
                <a:cs typeface="Muli"/>
              </a:rPr>
              <a:t>robosuite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4343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A robotics library built on MuJoCo.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It provides: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Ready-made robot arms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Panda, XArm7, UR5e, …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Ready-made manipulation tasks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Lift, Pick-and-Place, Assembly, …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Cameras, sensors, and a standard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observation / action interface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•  Built-in scenes to test as-is,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Muli"/>
                <a:ea typeface="Muli"/>
                <a:cs typeface="Muli"/>
              </a:rPr>
              <a:t>      or change a little and retest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108960"/>
            <a:ext cx="4343400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18688"/>
            <a:ext cx="4114800" cy="1005840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obs = env.reset()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obs, reward, done, info = env.step(action)</a:t>
            </a:r>
          </a:p>
        </p:txBody>
      </p:sp>
      <p:pic>
        <p:nvPicPr>
          <p:cNvPr id="7" name="Picture 6" descr="part0_im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80619"/>
            <a:ext cx="3977639" cy="2457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00600" y="4096512"/>
            <a:ext cx="397763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Part 0 of hri_handover_tutorial.ipynb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370832"/>
            <a:ext cx="5669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Zhu et al., robosuite. arXiv:2009.12293, 2020. 2017 Stanford SVL; now ARISE.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B6B6B"/>
                </a:solidFill>
                <a:latin typeface="Muli"/>
                <a:ea typeface="Muli"/>
                <a:cs typeface="Muli"/>
              </a:rPr>
              <a:t>Notebook: hri_handover_tutorial.ipynb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Custom 4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3DA9D5"/>
      </a:accent1>
      <a:accent2>
        <a:srgbClr val="3DA9D5"/>
      </a:accent2>
      <a:accent3>
        <a:srgbClr val="3DA9D5"/>
      </a:accent3>
      <a:accent4>
        <a:srgbClr val="3DA9D5"/>
      </a:accent4>
      <a:accent5>
        <a:srgbClr val="3DA9D5"/>
      </a:accent5>
      <a:accent6>
        <a:srgbClr val="3DA9D5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DD2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DD2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4037</TotalTime>
  <Words>445</Words>
  <Application>Microsoft Macintosh PowerPoint</Application>
  <PresentationFormat>On-screen Show (16:9)</PresentationFormat>
  <Paragraphs>68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17</vt:i4>
      </vt:variant>
    </vt:vector>
  </HeadingPairs>
  <TitlesOfParts>
    <vt:vector size="38" baseType="lpstr">
      <vt:lpstr>맑은 고딕</vt:lpstr>
      <vt:lpstr>Muli Black</vt:lpstr>
      <vt:lpstr>Muli ExtraBold</vt:lpstr>
      <vt:lpstr>Arial</vt:lpstr>
      <vt:lpstr>Calibri</vt:lpstr>
      <vt:lpstr>Muli</vt:lpstr>
      <vt:lpstr>Muli Bold</vt:lpstr>
      <vt:lpstr>Muli Light</vt:lpstr>
      <vt:lpstr>Wingdings</vt:lpstr>
      <vt:lpstr>Cover and End Slide Master</vt:lpstr>
      <vt:lpstr>Contents Slide Master</vt:lpstr>
      <vt:lpstr>Section Break Slide Master</vt:lpstr>
      <vt:lpstr>Custom Design</vt:lpstr>
      <vt:lpstr>1_Custom Design</vt:lpstr>
      <vt:lpstr>2_Custom Design</vt:lpstr>
      <vt:lpstr>3_Custom Design</vt:lpstr>
      <vt:lpstr>7_Custom Design</vt:lpstr>
      <vt:lpstr>4_Custom Design</vt:lpstr>
      <vt:lpstr>5_Custom Design</vt:lpstr>
      <vt:lpstr>6_Custom Design</vt:lpstr>
      <vt:lpstr>8_Custom Design</vt:lpstr>
      <vt:lpstr>Cover Style 01 PRESENTATION TITLE</vt:lpstr>
      <vt:lpstr>Cover Style 02 PRESENTATION TITLE</vt:lpstr>
      <vt:lpstr>PowerPoint Presentation</vt:lpstr>
      <vt:lpstr>PowerPoint Presentation</vt:lpstr>
      <vt:lpstr>PowerPoint Presentation</vt:lpstr>
      <vt:lpstr>PowerPoint Presentation</vt:lpstr>
      <vt:lpstr>Add title</vt:lpstr>
      <vt:lpstr>PowerPoint Presentation</vt:lpstr>
      <vt:lpstr>PowerPoint Presentation</vt:lpstr>
      <vt:lpstr>Add title</vt:lpstr>
      <vt:lpstr>PowerPoint Presentation</vt:lpstr>
      <vt:lpstr>PowerPoint Presentation</vt:lpstr>
      <vt:lpstr>Add title</vt:lpstr>
      <vt:lpstr>Add title</vt:lpstr>
      <vt:lpstr>Add title</vt:lpstr>
      <vt:lpstr>Thank you!</vt:lpstr>
      <vt:lpstr>Q &amp; A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Gareth K K LAI</cp:lastModifiedBy>
  <cp:revision>207</cp:revision>
  <dcterms:created xsi:type="dcterms:W3CDTF">2016-11-07T07:00:36Z</dcterms:created>
  <dcterms:modified xsi:type="dcterms:W3CDTF">2020-05-05T02:51:07Z</dcterms:modified>
</cp:coreProperties>
</file>