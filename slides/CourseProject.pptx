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  <p:sldMasterId id="2147483697" r:id="rId4"/>
    <p:sldMasterId id="2147483700" r:id="rId5"/>
    <p:sldMasterId id="2147483703" r:id="rId6"/>
    <p:sldMasterId id="2147483706" r:id="rId7"/>
    <p:sldMasterId id="2147483725" r:id="rId8"/>
    <p:sldMasterId id="2147483711" r:id="rId9"/>
    <p:sldMasterId id="2147483720" r:id="rId10"/>
    <p:sldMasterId id="2147483722" r:id="rId11"/>
    <p:sldMasterId id="2147483741" r:id="rId12"/>
  </p:sldMasterIdLst>
  <p:notesMasterIdLst>
    <p:notesMasterId r:id="rId30"/>
  </p:notesMasterIdLst>
  <p:handoutMasterIdLst>
    <p:handoutMasterId r:id="rId31"/>
  </p:handoutMasterIdLst>
  <p:sldIdLst>
    <p:sldId id="256" r:id="rId13"/>
    <p:sldId id="342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351" r:id="rId45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8" r:id="rId29"/>
    <p:sldId id="365" r:id="rId59"/>
    <p:sldId id="366" r:id="rId60"/>
    <p:sldId id="367" r:id="rId6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79"/>
    <a:srgbClr val="D7A800"/>
    <a:srgbClr val="D6D6D6"/>
    <a:srgbClr val="AA7900"/>
    <a:srgbClr val="0096FF"/>
    <a:srgbClr val="00AAD6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6" autoAdjust="0"/>
    <p:restoredTop sz="95185"/>
  </p:normalViewPr>
  <p:slideViewPr>
    <p:cSldViewPr showGuides="1">
      <p:cViewPr varScale="1">
        <p:scale>
          <a:sx n="148" d="100"/>
          <a:sy n="148" d="100"/>
        </p:scale>
        <p:origin x="816" y="184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41" d="100"/>
          <a:sy n="141" d="100"/>
        </p:scale>
        <p:origin x="4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" Target="slides/slide1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2.xml"/><Relationship Id="rId37" Type="http://schemas.openxmlformats.org/officeDocument/2006/relationships/slide" Target="slides/slide3.xml"/><Relationship Id="rId38" Type="http://schemas.openxmlformats.org/officeDocument/2006/relationships/slide" Target="slides/slide4.xml"/><Relationship Id="rId39" Type="http://schemas.openxmlformats.org/officeDocument/2006/relationships/slide" Target="slides/slide5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9.xml"/><Relationship Id="rId44" Type="http://schemas.openxmlformats.org/officeDocument/2006/relationships/slide" Target="slides/slide10.xml"/><Relationship Id="rId45" Type="http://schemas.openxmlformats.org/officeDocument/2006/relationships/slide" Target="slides/slide11.xml"/><Relationship Id="rId46" Type="http://schemas.openxmlformats.org/officeDocument/2006/relationships/slide" Target="slides/slide12.xml"/><Relationship Id="rId47" Type="http://schemas.openxmlformats.org/officeDocument/2006/relationships/slide" Target="slides/slide13.xml"/><Relationship Id="rId48" Type="http://schemas.openxmlformats.org/officeDocument/2006/relationships/slide" Target="slides/slide14.xml"/><Relationship Id="rId49" Type="http://schemas.openxmlformats.org/officeDocument/2006/relationships/slide" Target="slides/slide15.xml"/><Relationship Id="rId50" Type="http://schemas.openxmlformats.org/officeDocument/2006/relationships/slide" Target="slides/slide16.xml"/><Relationship Id="rId51" Type="http://schemas.openxmlformats.org/officeDocument/2006/relationships/slide" Target="slides/slide17.xml"/><Relationship Id="rId52" Type="http://schemas.openxmlformats.org/officeDocument/2006/relationships/slide" Target="slides/slide18.xml"/><Relationship Id="rId53" Type="http://schemas.openxmlformats.org/officeDocument/2006/relationships/slide" Target="slides/slide19.xml"/><Relationship Id="rId54" Type="http://schemas.openxmlformats.org/officeDocument/2006/relationships/slide" Target="slides/slide20.xml"/><Relationship Id="rId55" Type="http://schemas.openxmlformats.org/officeDocument/2006/relationships/slide" Target="slides/slide21.xml"/><Relationship Id="rId56" Type="http://schemas.openxmlformats.org/officeDocument/2006/relationships/slide" Target="slides/slide22.xml"/><Relationship Id="rId57" Type="http://schemas.openxmlformats.org/officeDocument/2006/relationships/slide" Target="slides/slide23.xml"/><Relationship Id="rId58" Type="http://schemas.openxmlformats.org/officeDocument/2006/relationships/slide" Target="slides/slide24.xml"/><Relationship Id="rId59" Type="http://schemas.openxmlformats.org/officeDocument/2006/relationships/slide" Target="slides/slide26.xml"/><Relationship Id="rId60" Type="http://schemas.openxmlformats.org/officeDocument/2006/relationships/slide" Target="slides/slide27.xml"/><Relationship Id="rId61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AAE9C2-5881-4A10-94B1-2302DB879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625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1.jpg"/><Relationship Id="rId3" Type="http://schemas.openxmlformats.org/officeDocument/2006/relationships/image" Target="../media/image1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4.jpg"/><Relationship Id="rId3" Type="http://schemas.openxmlformats.org/officeDocument/2006/relationships/image" Target="../media/image1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5.jpg"/><Relationship Id="rId3" Type="http://schemas.openxmlformats.org/officeDocument/2006/relationships/image" Target="../media/image1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6.jpg"/><Relationship Id="rId3" Type="http://schemas.openxmlformats.org/officeDocument/2006/relationships/image" Target="../media/image1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7.jpg"/><Relationship Id="rId3" Type="http://schemas.openxmlformats.org/officeDocument/2006/relationships/image" Target="../media/image1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8.jpeg"/><Relationship Id="rId3" Type="http://schemas.openxmlformats.org/officeDocument/2006/relationships/image" Target="../media/image1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jpg"/><Relationship Id="rId3" Type="http://schemas.openxmlformats.org/officeDocument/2006/relationships/image" Target="../media/image1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0.jpg"/><Relationship Id="rId3" Type="http://schemas.openxmlformats.org/officeDocument/2006/relationships/image" Target="../media/image1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1.jpg"/><Relationship Id="rId3" Type="http://schemas.openxmlformats.org/officeDocument/2006/relationships/image" Target="../media/image1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2.jpeg"/><Relationship Id="rId3" Type="http://schemas.openxmlformats.org/officeDocument/2006/relationships/image" Target="../media/image12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3.jpeg"/><Relationship Id="rId3" Type="http://schemas.openxmlformats.org/officeDocument/2006/relationships/image" Target="../media/image12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2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4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5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B1B0CE4E-6285-924C-9736-9FE7C2C63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3" b="16539"/>
          <a:stretch/>
        </p:blipFill>
        <p:spPr>
          <a:xfrm>
            <a:off x="0" y="0"/>
            <a:ext cx="9143998" cy="401191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566664-172B-E545-9B8D-8AF7E379AC60}"/>
              </a:ext>
            </a:extLst>
          </p:cNvPr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A35E1-5DE3-3D4E-A726-485BB6AD3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553F90-4249-1D4E-90B4-616FA52284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BFAAE-CBCE-7C4A-8BF2-85DCB84148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cxnSp>
        <p:nvCxnSpPr>
          <p:cNvPr id="9" name="Straight Arrow Connector 8"/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A9E0C0-02B8-3844-88E5-BDBFF09383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8D9C76-6752-A14B-B8F2-B31FF121D2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6D06D2-3BBC-5042-B698-D316C23EE5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19D44-8FE7-6E49-B8DA-0E022CD5E4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1760" y="0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D8F06A-D43B-0946-8B96-82583F6175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AE34E9-720D-EE42-948B-40AD8D00B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1" i="0" baseline="0"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flag&#10;&#10;Description automatically generated">
            <a:extLst>
              <a:ext uri="{FF2B5EF4-FFF2-40B4-BE49-F238E27FC236}">
                <a16:creationId xmlns:a16="http://schemas.microsoft.com/office/drawing/2014/main" id="{60F68C2A-4326-0249-B480-E34F62A68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5072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351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bg>
      <p:bgPr>
        <a:solidFill>
          <a:srgbClr val="0044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046842" y="807554"/>
            <a:ext cx="7050317" cy="352839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403648" y="1131590"/>
            <a:ext cx="6336704" cy="288032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043608" y="3291830"/>
            <a:ext cx="7056784" cy="53330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C7F77B-C3BA-7E4A-BB0B-0BD363CB99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742" y="1661905"/>
            <a:ext cx="3252516" cy="118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27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i="0" baseline="0">
                <a:solidFill>
                  <a:schemeClr val="bg1"/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="1" i="0" baseline="0">
                <a:solidFill>
                  <a:schemeClr val="bg1"/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rgbClr val="00447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CE2D3B-A6B1-8942-89C9-AD0560A83053}"/>
              </a:ext>
            </a:extLst>
          </p:cNvPr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5777640-31D4-854E-9973-F3A6AE6F21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585A1-5A93-474B-9DC1-1E060119AA18}"/>
              </a:ext>
            </a:extLst>
          </p:cNvPr>
          <p:cNvSpPr/>
          <p:nvPr userDrawn="1"/>
        </p:nvSpPr>
        <p:spPr>
          <a:xfrm>
            <a:off x="-1" y="0"/>
            <a:ext cx="4602397" cy="4323783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0F4C1C-A977-2A43-8695-ACCF7B57B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037301"/>
            <a:ext cx="3810267" cy="1102519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33982A-8A2C-C645-B059-D1CD8B3EE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3872"/>
            <a:ext cx="3810267" cy="74193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5E3FED6-8E5A-ED4A-ABF0-5591A6619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5128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08B2A3-9F24-8A49-B79C-150D852A7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639051"/>
            <a:ext cx="5150653" cy="585896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B5A559A-05E9-8149-AD08-1077C356D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6215"/>
            <a:ext cx="5150653" cy="6904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983585-C5D5-294A-AA77-10565159E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455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30D0A4-A396-4345-907B-12ABEC3DB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928" y="843558"/>
            <a:ext cx="5984565" cy="808485"/>
          </a:xfrm>
          <a:prstGeom prst="rect">
            <a:avLst/>
          </a:prstGeom>
        </p:spPr>
        <p:txBody>
          <a:bodyPr/>
          <a:lstStyle>
            <a:lvl1pPr algn="ctr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39B751C-8FD9-3A40-AE76-17AB11085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4928" y="1653811"/>
            <a:ext cx="5984565" cy="54872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F9C023E-9514-EF4E-9EB7-CD380878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54928" y="2227748"/>
            <a:ext cx="5984565" cy="4773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8858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B0EBA7-6087-E741-AAE8-2E77C5D48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512" y="1933815"/>
            <a:ext cx="6228864" cy="565928"/>
          </a:xfrm>
          <a:prstGeom prst="rect">
            <a:avLst/>
          </a:prstGeom>
        </p:spPr>
        <p:txBody>
          <a:bodyPr/>
          <a:lstStyle>
            <a:lvl1pPr algn="l">
              <a:defRPr sz="26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99A8CF3-1249-E34E-9D63-4B94892A0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87" y="1269833"/>
            <a:ext cx="624178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0B30BAE-77A7-3741-A9DB-2FFC4B2C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4512" y="2513813"/>
            <a:ext cx="3329416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81786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677107-5BA3-1343-AC3A-071FB3B2DE71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5D6BF13-600F-0D45-A611-2FAB7D3B2C8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D10FA73-852E-F342-8F09-B608909F3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22BC783-D62B-554F-A383-3F5D5B826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436299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8126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EA728D-18D2-8D41-A4DF-4E866518A85E}"/>
              </a:ext>
            </a:extLst>
          </p:cNvPr>
          <p:cNvSpPr/>
          <p:nvPr userDrawn="1"/>
        </p:nvSpPr>
        <p:spPr>
          <a:xfrm flipV="1">
            <a:off x="0" y="-19"/>
            <a:ext cx="3923928" cy="43498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15CB35-1735-1C4C-99A6-8E8F7AA8EC09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FFDBD6F-98CF-024B-A4BC-54A40F057FB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2F1269B-3B3D-2D41-8A7A-A8B1A9AB2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EF71A8-081E-2540-89DF-69E433DA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328204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81076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11b1Nov.jpg">
            <a:extLst>
              <a:ext uri="{FF2B5EF4-FFF2-40B4-BE49-F238E27FC236}">
                <a16:creationId xmlns:a16="http://schemas.microsoft.com/office/drawing/2014/main" id="{8EF68AF8-8D08-0340-B46F-24362D46A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r="12679" b="2112"/>
          <a:stretch/>
        </p:blipFill>
        <p:spPr>
          <a:xfrm>
            <a:off x="0" y="944"/>
            <a:ext cx="9138809" cy="5146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8C853-0BB3-9947-BBEB-7BFC78ABE19D}"/>
              </a:ext>
            </a:extLst>
          </p:cNvPr>
          <p:cNvSpPr/>
          <p:nvPr userDrawn="1"/>
        </p:nvSpPr>
        <p:spPr>
          <a:xfrm>
            <a:off x="5190" y="0"/>
            <a:ext cx="9138809" cy="5146760"/>
          </a:xfrm>
          <a:prstGeom prst="rect">
            <a:avLst/>
          </a:prstGeom>
          <a:solidFill>
            <a:schemeClr val="tx1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0E95AF4-05FA-3B44-A29F-7082E4250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995" y="1491630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68ECA12-F47F-1442-BFFC-94B7E31A5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995" y="253657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2912840E-0F6A-ED48-9A2B-502817EB6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D4878F94-83FF-FD4D-A3B0-44FD4722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C5725E5-DB25-CE43-B45F-6E30DE6F4A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91EA1AD2-8ADB-F844-AFEB-16EB56062675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 descr="UST_L4_white.eps">
              <a:extLst>
                <a:ext uri="{FF2B5EF4-FFF2-40B4-BE49-F238E27FC236}">
                  <a16:creationId xmlns:a16="http://schemas.microsoft.com/office/drawing/2014/main" id="{6C28C5BF-2116-684C-AA1A-1790C02B8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4969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DC59AE-4F78-F44D-A5A7-A7C448441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67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6993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CC2736E-AE69-A64F-8123-1A3604FD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49B8322-F8DF-5E43-ADAD-58A7A8E7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9B0B36-7BC9-0F43-9A52-A0381E4EEBD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065EF2C6-7DB6-DE4C-B591-32DC2E5EA096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075648B8-AECD-E348-ACE0-1F8792AB67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3C86726B-2B2B-8B4D-8B54-87CEE0D4F4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FC64934D-019E-AC41-8C89-A9FF2A96A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046429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ew of a building&#10;&#10;Description automatically generated">
            <a:extLst>
              <a:ext uri="{FF2B5EF4-FFF2-40B4-BE49-F238E27FC236}">
                <a16:creationId xmlns:a16="http://schemas.microsoft.com/office/drawing/2014/main" id="{E67D108F-86A7-C446-AD4A-B695A3C7E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1811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CEE3A202-91DF-AB45-A8A1-BCF31425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0400473-8767-B94D-8EB7-599EE42FF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8C7B22-E921-CF43-936F-42B309B410AA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78FF5F33-80D9-3145-89B3-0F420096E09E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04AE86C-435B-2845-B895-B5356FCDBB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DFD3AECD-05A6-6547-B188-80C751B4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9B9982FB-B2F2-8D41-B284-6E4E75CEF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661550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jumping in the air&#10;&#10;Description automatically generated">
            <a:extLst>
              <a:ext uri="{FF2B5EF4-FFF2-40B4-BE49-F238E27FC236}">
                <a16:creationId xmlns:a16="http://schemas.microsoft.com/office/drawing/2014/main" id="{C41B6602-F0EC-F942-86A1-138E919612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F0A115E2-4D28-E944-9BA0-7EB2E952D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EE5CD10-F103-0A40-9228-F30E1105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86D0BDA-D014-B94B-A2E1-43BAAC41FC8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EB2DCAAF-36B7-424A-A3EC-4D5EA8DBC13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B041F061-5838-064F-97E7-2AE56B1AF9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5CFAB0CC-CDE5-5E48-BE9A-AA4292926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8F7EFBA1-76DA-CC44-8432-3F03B609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010870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racket, ball, player&#10;&#10;Description automatically generated">
            <a:extLst>
              <a:ext uri="{FF2B5EF4-FFF2-40B4-BE49-F238E27FC236}">
                <a16:creationId xmlns:a16="http://schemas.microsoft.com/office/drawing/2014/main" id="{50F42634-ADFF-264E-A430-7F95CC013C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887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8CB9DD16-2466-8542-BFB6-2ADBBDF5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087631A-0F90-B848-B9EC-6A555B65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049FAE-9338-934E-87CC-4DE07F7D1AE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DEDDBC13-C068-1D41-A6BF-DAD65608DBC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A030304-46EE-4F4A-AEB3-6DA604470A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76858D4A-0B2A-584F-AA02-3FFE3DB3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A98F2F21-C407-A643-9493-C83B4F531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91065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olding, bat, player&#10;&#10;Description automatically generated">
            <a:extLst>
              <a:ext uri="{FF2B5EF4-FFF2-40B4-BE49-F238E27FC236}">
                <a16:creationId xmlns:a16="http://schemas.microsoft.com/office/drawing/2014/main" id="{7817304A-ED9F-8541-9343-29E2504E24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B622739-0D2E-6B4F-A05A-523F403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1E412BB-C810-1547-913D-130C9FAC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573E6D9-0B61-FD4A-BDFA-DFBD0D20BC52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D7DA320-2D70-4849-B02E-A7C230E99EB4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68D18868-51BC-5840-AA90-4182B64649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4951ACE0-3A5F-6541-AD8F-3028A08E2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054D0E50-3364-ED41-981E-81FCD3C1E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86617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Image may contain: one or more people">
            <a:extLst>
              <a:ext uri="{FF2B5EF4-FFF2-40B4-BE49-F238E27FC236}">
                <a16:creationId xmlns:a16="http://schemas.microsoft.com/office/drawing/2014/main" id="{6375C63C-9946-D14D-90D5-59326107FF4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393" b="3492"/>
          <a:stretch/>
        </p:blipFill>
        <p:spPr bwMode="auto">
          <a:xfrm>
            <a:off x="-1" y="-46050"/>
            <a:ext cx="9144001" cy="518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FEC444F-CA8F-BF44-9755-1449E0AC9B8F}"/>
              </a:ext>
            </a:extLst>
          </p:cNvPr>
          <p:cNvSpPr/>
          <p:nvPr userDrawn="1"/>
        </p:nvSpPr>
        <p:spPr>
          <a:xfrm>
            <a:off x="0" y="-46051"/>
            <a:ext cx="9144000" cy="5199076"/>
          </a:xfrm>
          <a:prstGeom prst="rect">
            <a:avLst/>
          </a:prstGeom>
          <a:solidFill>
            <a:schemeClr val="tx2">
              <a:lumMod val="75000"/>
              <a:alpha val="6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56223DC7-4EA3-D94E-8338-453FE7387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8838F89-6D7D-4640-B59A-910F78932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72582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r&#10;&#10;Description automatically generated">
            <a:extLst>
              <a:ext uri="{FF2B5EF4-FFF2-40B4-BE49-F238E27FC236}">
                <a16:creationId xmlns:a16="http://schemas.microsoft.com/office/drawing/2014/main" id="{7FAC6AE5-DF22-2C4F-95E4-17F95E7F1A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14052" y="0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34EEAAB-77B9-7E47-A917-01FA97351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9BCC1726-E99C-1448-BDC1-134D5CA9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E183C-284A-BC4B-AA2A-84429558F7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4E76588E-4C92-CE44-B603-1AED1D71E69D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B7970625-86D2-D046-BF8C-A6E36248D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B2524100-6EAB-AC4C-81BE-2D13D054A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4C3EA1CA-05DF-6E4C-B42F-980856DA5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977780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building&#10;&#10;Description automatically generated">
            <a:extLst>
              <a:ext uri="{FF2B5EF4-FFF2-40B4-BE49-F238E27FC236}">
                <a16:creationId xmlns:a16="http://schemas.microsoft.com/office/drawing/2014/main" id="{EF8DB789-51AB-6845-9621-0A8803310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CD3BA2C-510C-6049-A06A-206CE7A3A989}"/>
              </a:ext>
            </a:extLst>
          </p:cNvPr>
          <p:cNvSpPr/>
          <p:nvPr userDrawn="1"/>
        </p:nvSpPr>
        <p:spPr>
          <a:xfrm>
            <a:off x="-5190" y="16369"/>
            <a:ext cx="9144000" cy="5143499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A3DF5EF6-C263-AD40-975B-55124E6EE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5D53D1B9-92EC-DF47-B901-F7E622038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05453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BF9BB25-BE1E-5B43-8FD2-746CBA7A2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-4003" y="-55235"/>
            <a:ext cx="9144000" cy="5215248"/>
          </a:xfrm>
          <a:prstGeom prst="rect">
            <a:avLst/>
          </a:prstGeom>
          <a:solidFill>
            <a:schemeClr val="tx2">
              <a:lumMod val="50000"/>
              <a:alpha val="7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02882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9A303F32-94D3-FD4F-86D4-65A704D23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5029"/>
          <a:stretch/>
        </p:blipFill>
        <p:spPr>
          <a:xfrm>
            <a:off x="-5482" y="0"/>
            <a:ext cx="9153383" cy="51425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0" y="0"/>
            <a:ext cx="9144000" cy="5142556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35794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50D6DC-1BEE-1943-A6D0-CD7A15FA01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53B1A0-F2BA-384D-9ECA-C64ADDB22D86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4426941-7D2F-6B4E-98A1-D82462AC4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9AFD1F9-9A10-7B46-B132-46945A14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846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7445C6-A880-3841-8FC9-DA42364A7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900" b="9227"/>
          <a:stretch/>
        </p:blipFill>
        <p:spPr>
          <a:xfrm>
            <a:off x="5491" y="-49559"/>
            <a:ext cx="9138509" cy="51921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0BE306F-F09F-FE4D-8B4A-890F1F60B099}"/>
              </a:ext>
            </a:extLst>
          </p:cNvPr>
          <p:cNvSpPr/>
          <p:nvPr userDrawn="1"/>
        </p:nvSpPr>
        <p:spPr>
          <a:xfrm>
            <a:off x="0" y="-49559"/>
            <a:ext cx="9144000" cy="5199076"/>
          </a:xfrm>
          <a:prstGeom prst="rect">
            <a:avLst/>
          </a:prstGeom>
          <a:solidFill>
            <a:schemeClr val="tx1">
              <a:alpha val="7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64CA5A2A-4657-984A-B130-BBA7B5619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E2E080-1A76-9D44-A79E-97B85777A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870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51435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6C8EC5-9980-4C49-9C8C-7B71D1A2393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1" name="Right Triangle 20">
              <a:extLst>
                <a:ext uri="{FF2B5EF4-FFF2-40B4-BE49-F238E27FC236}">
                  <a16:creationId xmlns:a16="http://schemas.microsoft.com/office/drawing/2014/main" id="{F441CA85-C019-4C43-BB25-332077135117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 descr="UST_L4_white.eps">
              <a:extLst>
                <a:ext uri="{FF2B5EF4-FFF2-40B4-BE49-F238E27FC236}">
                  <a16:creationId xmlns:a16="http://schemas.microsoft.com/office/drawing/2014/main" id="{B92E52F4-5ED6-CE4F-9288-CB5F6F3430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06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11b1Nov.jpg">
            <a:extLst>
              <a:ext uri="{FF2B5EF4-FFF2-40B4-BE49-F238E27FC236}">
                <a16:creationId xmlns:a16="http://schemas.microsoft.com/office/drawing/2014/main" id="{123D3453-3907-5F4D-A49A-CD2D3A0894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7894" y="0"/>
            <a:ext cx="9178880" cy="4516505"/>
          </a:xfrm>
          <a:prstGeom prst="rect">
            <a:avLst/>
          </a:prstGeom>
        </p:spPr>
      </p:pic>
      <p:pic>
        <p:nvPicPr>
          <p:cNvPr id="25" name="Picture 24" descr="11b1Nov.jpg">
            <a:extLst>
              <a:ext uri="{FF2B5EF4-FFF2-40B4-BE49-F238E27FC236}">
                <a16:creationId xmlns:a16="http://schemas.microsoft.com/office/drawing/2014/main" id="{9D5117D1-D51C-1E46-A0F1-BBCE18237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4869" y="0"/>
            <a:ext cx="9178880" cy="451650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94F5BA1-4124-8D41-90C7-3CD24436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C3D5C46-58F5-EC4A-8CAC-36429E281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20C67E-4C7B-984B-BB5E-7BD671A3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DF1BA13C-B853-0540-BFF8-E41C36153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263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ettyImages-147215398_RGB300Dpi.jpg">
            <a:extLst>
              <a:ext uri="{FF2B5EF4-FFF2-40B4-BE49-F238E27FC236}">
                <a16:creationId xmlns:a16="http://schemas.microsoft.com/office/drawing/2014/main" id="{C684426E-E8BB-7141-8B61-463E7D0F5E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8" t="1447" r="1589" b="32925"/>
          <a:stretch/>
        </p:blipFill>
        <p:spPr>
          <a:xfrm>
            <a:off x="0" y="0"/>
            <a:ext cx="9144000" cy="4542692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7AAFBBC-6648-104D-B66E-4A0698A1A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1F0EA80-C4F3-4245-B220-B912FC41E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A8D67A4-C207-C24F-96BB-E2E0AF35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D42369C-5CC7-F049-99A4-7F78D771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39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58237C-0859-1543-B06B-F007931847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3" r="13707"/>
          <a:stretch/>
        </p:blipFill>
        <p:spPr>
          <a:xfrm>
            <a:off x="-1" y="-12222"/>
            <a:ext cx="5212117" cy="4509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71A761-0023-CB40-8BB8-68C6076EA929}"/>
              </a:ext>
            </a:extLst>
          </p:cNvPr>
          <p:cNvSpPr/>
          <p:nvPr userDrawn="1"/>
        </p:nvSpPr>
        <p:spPr>
          <a:xfrm flipV="1">
            <a:off x="5212116" y="-11"/>
            <a:ext cx="3931884" cy="44975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1D864D-5C29-8547-AF24-1D651CBD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0538" y="1032187"/>
            <a:ext cx="3309734" cy="1115368"/>
          </a:xfrm>
          <a:prstGeom prst="rect">
            <a:avLst/>
          </a:prstGeom>
        </p:spPr>
        <p:txBody>
          <a:bodyPr/>
          <a:lstStyle>
            <a:lvl1pPr algn="l">
              <a:defRPr sz="3000" b="1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FD59A6-29AB-7547-B747-D714E59FF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0538" y="2491153"/>
            <a:ext cx="3251133" cy="9188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80AB4A2-49F6-7F4D-90AA-59B26B5F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892A96-A6A9-9F4A-A856-501C3807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0565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2927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599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586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764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735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943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8506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06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6330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73907CB-8704-B141-87A9-9F4D25910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3922" y="1856154"/>
            <a:ext cx="3770923" cy="439615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bg1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4CCA59C-2B24-5740-B055-A81D5E23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348035"/>
            <a:ext cx="3770923" cy="49481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760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253A618-A4B0-AD44-87CB-C716EB6C7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416539"/>
            <a:ext cx="5177691" cy="43961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890E5D2-9B2E-5849-9C30-1926C8901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3155" y="1908420"/>
            <a:ext cx="5177691" cy="49481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tx2">
                    <a:lumMod val="7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51771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184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059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9373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660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529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8847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7958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09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theme" Target="../theme/theme4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5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theme" Target="../theme/theme6.xml"/><Relationship Id="rId4" Type="http://schemas.openxmlformats.org/officeDocument/2006/relationships/image" Target="../media/image10.jpeg"/><Relationship Id="rId5" Type="http://schemas.openxmlformats.org/officeDocument/2006/relationships/image" Target="../media/image9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8.xml"/><Relationship Id="rId6" Type="http://schemas.openxmlformats.org/officeDocument/2006/relationships/image" Target="../media/image1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theme" Target="../theme/theme9.xml"/><Relationship Id="rId10" Type="http://schemas.openxmlformats.org/officeDocument/2006/relationships/image" Target="../media/image12.emf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theme" Target="../theme/theme10.xml"/><Relationship Id="rId3" Type="http://schemas.openxmlformats.org/officeDocument/2006/relationships/image" Target="../media/image9.emf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theme" Target="../theme/theme11.xml"/><Relationship Id="rId3" Type="http://schemas.openxmlformats.org/officeDocument/2006/relationships/image" Target="../media/image26.emf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theme" Target="../theme/theme12.xml"/><Relationship Id="rId10" Type="http://schemas.openxmlformats.org/officeDocument/2006/relationships/image" Target="../media/image22.jpeg"/><Relationship Id="rId11" Type="http://schemas.openxmlformats.org/officeDocument/2006/relationships/image" Target="../media/image1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8" r:id="rId2"/>
    <p:sldLayoutId id="2147483724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  <p:sldLayoutId id="2147483694" r:id="rId12"/>
    <p:sldLayoutId id="2147483695" r:id="rId13"/>
    <p:sldLayoutId id="2147483696" r:id="rId14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9A4BF891-650E-0144-BFE9-5FC44BEE7D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659C2CB-E4AF-C543-8C69-76AC6570E984}"/>
              </a:ext>
            </a:extLst>
          </p:cNvPr>
          <p:cNvSpPr/>
          <p:nvPr userDrawn="1"/>
        </p:nvSpPr>
        <p:spPr>
          <a:xfrm flipV="1">
            <a:off x="1" y="4335419"/>
            <a:ext cx="9143999" cy="808080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6624E895-A3EE-E849-B1DC-35084406CA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0" y="4512127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A453BA41-7822-D940-AB62-08F80E1D0F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9CB6DF-C119-0440-B71E-0BE775858CE1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E2323653-D6E2-B14C-848F-86FD634822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1" y="4630240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URAO-2019-CYT.jpg">
            <a:extLst>
              <a:ext uri="{FF2B5EF4-FFF2-40B4-BE49-F238E27FC236}">
                <a16:creationId xmlns:a16="http://schemas.microsoft.com/office/drawing/2014/main" id="{9AEE2D6C-5ACC-8847-BA6F-E7E79A9674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92" r="10457"/>
          <a:stretch/>
        </p:blipFill>
        <p:spPr>
          <a:xfrm>
            <a:off x="3266032" y="13509"/>
            <a:ext cx="5877968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DA7612-36A5-6849-9270-C5FECCA6F604}"/>
              </a:ext>
            </a:extLst>
          </p:cNvPr>
          <p:cNvSpPr/>
          <p:nvPr userDrawn="1"/>
        </p:nvSpPr>
        <p:spPr>
          <a:xfrm flipV="1">
            <a:off x="3" y="-9"/>
            <a:ext cx="3931884" cy="5143499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3FB1B892-51B6-6447-939A-D37A1424F61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77" y="4589713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1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0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30" r:id="rId3"/>
    <p:sldLayoutId id="2147483731" r:id="rId4"/>
    <p:sldLayoutId id="2147483732" r:id="rId5"/>
    <p:sldLayoutId id="2147483733" r:id="rId6"/>
    <p:sldLayoutId id="2147483737" r:id="rId7"/>
    <p:sldLayoutId id="2147483734" r:id="rId8"/>
    <p:sldLayoutId id="2147483735" r:id="rId9"/>
    <p:sldLayoutId id="2147483736" r:id="rId10"/>
    <p:sldLayoutId id="2147483740" r:id="rId11"/>
    <p:sldLayoutId id="2147483738" r:id="rId12"/>
    <p:sldLayoutId id="2147483739" r:id="rId13"/>
    <p:sldLayoutId id="2147483710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6C9B5A-ECA8-A84F-ACB6-C97AFAFA1635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11" name="Picture 10" descr="UST_L4_white.eps">
            <a:extLst>
              <a:ext uri="{FF2B5EF4-FFF2-40B4-BE49-F238E27FC236}">
                <a16:creationId xmlns:a16="http://schemas.microsoft.com/office/drawing/2014/main" id="{8873749A-B8A9-BC45-BD6D-05A3721158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298"/>
          <a:stretch/>
        </p:blipFill>
        <p:spPr>
          <a:xfrm>
            <a:off x="235019" y="4620199"/>
            <a:ext cx="298575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8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F2D74-0618-A04C-8831-2A7AAEC70D6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5" name="Right Triangle 14">
              <a:extLst>
                <a:ext uri="{FF2B5EF4-FFF2-40B4-BE49-F238E27FC236}">
                  <a16:creationId xmlns:a16="http://schemas.microsoft.com/office/drawing/2014/main" id="{31F73104-166D-224B-9EEC-3847B3D6B9C8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UST_L4_white.eps">
              <a:extLst>
                <a:ext uri="{FF2B5EF4-FFF2-40B4-BE49-F238E27FC236}">
                  <a16:creationId xmlns:a16="http://schemas.microsoft.com/office/drawing/2014/main" id="{A05E7277-7BDF-0B4C-B075-3FB8BAAB4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25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4479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2B8E3-5EF2-7944-B3BF-9022305D476A}"/>
              </a:ext>
            </a:extLst>
          </p:cNvPr>
          <p:cNvSpPr/>
          <p:nvPr userDrawn="1"/>
        </p:nvSpPr>
        <p:spPr>
          <a:xfrm flipV="1">
            <a:off x="0" y="0"/>
            <a:ext cx="9143999" cy="51435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8" name="Picture 7" descr="e_UST_L3_white.eps">
            <a:extLst>
              <a:ext uri="{FF2B5EF4-FFF2-40B4-BE49-F238E27FC236}">
                <a16:creationId xmlns:a16="http://schemas.microsoft.com/office/drawing/2014/main" id="{9A1F1F75-6918-2F4C-A1CD-CB2C99E728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57" y="2070924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8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e_UST4C_C3_blue.eps">
            <a:extLst>
              <a:ext uri="{FF2B5EF4-FFF2-40B4-BE49-F238E27FC236}">
                <a16:creationId xmlns:a16="http://schemas.microsoft.com/office/drawing/2014/main" id="{69C049E9-4288-374F-83BC-4AAE565356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195" y="3556001"/>
            <a:ext cx="1653610" cy="122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7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559400F-7630-5C49-A9A5-A61F89ED5F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26EAF8-B1AF-D443-8765-AE884C7BCB11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6A219-9834-DD41-9ED0-C9D93384325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D7B799BB-3776-CE46-82A9-8A39C737E25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 descr="UST_L4_white.eps">
              <a:extLst>
                <a:ext uri="{FF2B5EF4-FFF2-40B4-BE49-F238E27FC236}">
                  <a16:creationId xmlns:a16="http://schemas.microsoft.com/office/drawing/2014/main" id="{C17D4FCC-F59A-E845-BFA3-0970A3E08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981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5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cs typeface="Arial" pitchFamily="34" charset="0"/>
              </a:rPr>
              <a:t>Human–Robot Handover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Created by: Tong Ren     Date: 2026.11.17</a:t>
            </a:r>
            <a:r>
              <a:rPr lang="en-US" altLang="ko-KR" b="1" dirty="0">
                <a:cs typeface="Arial" pitchFamily="34" charset="0"/>
              </a:rPr>
              <a:t/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sz="3200" dirty="0"/>
              <a:t>CourseProject</a:t>
            </a:r>
            <a:r>
              <a:rPr lang="en-US" altLang="ko-KR" sz="3200" dirty="0">
                <a:ea typeface="맑은 고딕" pitchFamily="50" charset="-127"/>
              </a:rPr>
              <a:t/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0287716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Reinforcement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1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 chain of decisions.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8 cameras around the car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steer, accelerate, brake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Goal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arrive safely and smoothly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Learned mostly from human driving video. Can it get better than its teachers?</a:t>
            </a:r>
          </a:p>
        </p:txBody>
      </p:sp>
      <p:pic>
        <p:nvPicPr>
          <p:cNvPr id="4" name="Picture Placeholder 3" descr="tesla_autopilot_model_x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06" r="2706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Tesla Autopilot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Partially observed: cameras miss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Autopilot engaged in a Model X. Photo: Isnoop, CC BY-SA 4.0, Wikimedia Commons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Beat Lee Sedol 4–1.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the whole board, nothing hidden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where to place the next stone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Reward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+1 win, −1 loss, at the end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Started from human games, then improved by playing against itself.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AlphaGo,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4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Fully observed: the board is the state</a:t>
            </a:r>
          </a:p>
        </p:txBody>
      </p:sp>
      <p:pic>
        <p:nvPicPr>
          <p:cNvPr id="8" name="Picture 7" descr="alphago_lee_sedol_game1.png"/>
          <p:cNvPicPr>
            <a:picLocks noChangeAspect="1"/>
          </p:cNvPicPr>
          <p:nvPr/>
        </p:nvPicPr>
        <p:blipFill>
          <a:blip r:embed="rId2"/>
          <a:srcRect b="6000"/>
          <a:stretch>
            <a:fillRect/>
          </a:stretch>
        </p:blipFill>
        <p:spPr>
          <a:xfrm>
            <a:off x="4246470" y="204788"/>
            <a:ext cx="4177749" cy="41132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Lee Sedol (black) vs AlphaGo (white), Game 1. Diagram: Wesalius, CC BY-SA 4.0, Wikimedia Commons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lec4_termin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lec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 descr="markov_decision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9" y="109728"/>
            <a:ext cx="3977639" cy="31801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01769" y="3326426"/>
            <a:ext cx="39776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Markov decision process. Diagram: waldoalvarez, CC BY-SA 4.0, Wikimedia Commons</a:t>
            </a:r>
          </a:p>
        </p:txBody>
      </p:sp>
      <p:pic>
        <p:nvPicPr>
          <p:cNvPr id="9" name="Picture 8" descr="lec4_mdp_def_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415568"/>
            <a:ext cx="4800601" cy="34619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 families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800600" y="621792"/>
            <a:ext cx="39776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Bold names are used in this course.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8412479" cy="290779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977639"/>
                <a:gridCol w="2880360"/>
              </a:tblGrid>
              <a:tr h="290779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Axis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Type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Representative algorithms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Model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Model-based. Plan with a known or learned model.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MPC, PETS, MuZero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Model-free. Learn from samples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3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What is learned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Value-based. Learn Q or V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Q-learning, DQN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Policy-based. Learn the policy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Actor-critic. Learn a policy and a value together.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Data reuse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On-policy. Use only the current policy's data.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REINFORCE, A2C, TRPO,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Off-policy. Reuse past data from a replay buffer.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Policy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Stochastic. One state can yield different actions.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Deterministic. One state maps to one action.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DDB52FD-79AB-A144-A796-BDD07D11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483518"/>
            <a:ext cx="8424936" cy="85725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Muli ExtraBold" panose="00000900000000000000" pitchFamily="2" charset="0"/>
              </a:rPr>
              <a:t>Four ideas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64960F-C3A8-034D-B4A7-14A061793B19}"/>
              </a:ext>
            </a:extLst>
          </p:cNvPr>
          <p:cNvSpPr txBox="1"/>
          <p:nvPr/>
        </p:nvSpPr>
        <p:spPr>
          <a:xfrm>
            <a:off x="242555" y="1789758"/>
            <a:ext cx="2053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On-policy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Current policy only. PPO.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3E9BE7-189D-6647-925F-A5593F33E580}"/>
              </a:ext>
            </a:extLst>
          </p:cNvPr>
          <p:cNvSpPr/>
          <p:nvPr/>
        </p:nvSpPr>
        <p:spPr>
          <a:xfrm>
            <a:off x="6768175" y="1789758"/>
            <a:ext cx="231465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Exploit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Use the best policy.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  <a:p>
            <a:endParaRPr lang="en-US" sz="1200" dirty="0">
              <a:solidFill>
                <a:schemeClr val="bg1"/>
              </a:solidFill>
              <a:latin typeface="Muli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C3F46-D157-6147-871A-72A45E5DD66C}"/>
              </a:ext>
            </a:extLst>
          </p:cNvPr>
          <p:cNvSpPr txBox="1"/>
          <p:nvPr/>
        </p:nvSpPr>
        <p:spPr>
          <a:xfrm>
            <a:off x="4464050" y="1789758"/>
            <a:ext cx="224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Explore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Entropy bonus in SAC.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3B975-A3D2-754B-9D1D-9E3E6DB1AB73}"/>
              </a:ext>
            </a:extLst>
          </p:cNvPr>
          <p:cNvSpPr txBox="1"/>
          <p:nvPr/>
        </p:nvSpPr>
        <p:spPr>
          <a:xfrm>
            <a:off x="2482983" y="1789758"/>
            <a:ext cx="1851244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Off-policy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Replay buffer. SAC and TD3.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025118-C076-4C4F-B76F-7E1C0F8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EF433-2C52-1A4D-B0C0-BA2DC8040A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PPO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On-policy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Fresh data each update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Stable, easy default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Notebook 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05358-5030-004A-AE0D-06DF7796DE0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SAC  (and TD3)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Off-policy, replay buffer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Strong on continuous control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We train handover with SAC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TD3: deterministic 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93476-80A9-9244-B83A-0F2F65894A49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C7145-7D79-CE41-9840-7E9BCB93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How we train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SB3: SAC("MlpPolicy", env).learn(…).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Test with predict(obs, deterministic=True).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Handover setup: learning_starts 1000.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Entropy coefficient ent_coef = 0.005.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Check the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The same reward can fail on another seed.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Save checkpoints and read the learning curve.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Evaluate in simulation before the live demo.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Notebook Part 6 is this loop on our env.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2 of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Why simulation?</a:t>
            </a:r>
          </a:p>
        </p:txBody>
      </p:sp>
      <p:pic>
        <p:nvPicPr>
          <p:cNvPr id="4" name="atlas_fa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472" y="841248"/>
            <a:ext cx="4096512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1: testing a controller on an expensive robot without knowing if it will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Boston Dynamics, Farewell to HD Atlas, YouTube, 2024.</a:t>
            </a:r>
          </a:p>
        </p:txBody>
      </p:sp>
      <p:pic>
        <p:nvPicPr>
          <p:cNvPr id="7" name="Picture 6" descr="dactyl_ha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841248"/>
            <a:ext cx="409651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1728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2: an RL policy that needed about 13,000 years of experience in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OpenAI Dactyl, Rubik's Cube, 2019. Photo: Shadow Hand, CC BY-SA 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Framework after Kaifeng Zhang, COMS4733 Lecture 13, Columbia University.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What simulation offers</a:t>
            </a:r>
          </a:p>
        </p:txBody>
      </p:sp>
      <p:pic>
        <p:nvPicPr>
          <p:cNvPr id="4" name="Picture 3" descr="nv_wareho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841248"/>
            <a:ext cx="4096512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Bridging design and reality</a:t>
            </a:r>
          </a:p>
        </p:txBody>
      </p:sp>
      <p:pic>
        <p:nvPicPr>
          <p:cNvPr id="6" name="Picture 5" descr="nv_fran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841248"/>
            <a:ext cx="40965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Safe and repeatable testing</a:t>
            </a:r>
          </a:p>
        </p:txBody>
      </p:sp>
      <p:pic>
        <p:nvPicPr>
          <p:cNvPr id="8" name="Picture 7" descr="nv_sca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697480"/>
            <a:ext cx="4096512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Scalability</a:t>
            </a:r>
          </a:p>
        </p:txBody>
      </p:sp>
      <p:pic>
        <p:nvPicPr>
          <p:cNvPr id="10" name="Picture 9" descr="nv_tru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697480"/>
            <a:ext cx="409651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Access to ground truth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370832"/>
            <a:ext cx="8412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NVIDIA Isaac Sim, Isaac Gym, and Factory. NVIDIA Technical Blog.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Robotic simulation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Classical control verification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Study the performance, stability, and robustness of control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Data generation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Generating large datasets for robot policy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Evaluation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Benchmark algorithms under controlled, repeatable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Design and prototyping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Rapidly test robot morphology, sensor placement, or gripper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Components of a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Physics Engine</a:t>
            </a:r>
          </a:p>
        </p:txBody>
      </p:sp>
      <p:pic>
        <p:nvPicPr>
          <p:cNvPr id="6" name="Picture 5" descr="comp_phys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4168"/>
            <a:ext cx="1554480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1408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Rigid, articulated, deformable,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Speed: CPU/GPU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5152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Renderer</a:t>
            </a:r>
          </a:p>
        </p:txBody>
      </p:sp>
      <p:pic>
        <p:nvPicPr>
          <p:cNvPr id="10" name="Picture 9" descr="comp_render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344168"/>
            <a:ext cx="1554480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3952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Method: rasterization, path tracing,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Lighting, texture,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Sensor Simulation</a:t>
            </a:r>
          </a:p>
        </p:txBody>
      </p:sp>
      <p:pic>
        <p:nvPicPr>
          <p:cNvPr id="14" name="Picture 13" descr="comp_senso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1554480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21408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RGB camera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Depth/LiDAR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Robot states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Tactile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5152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User Interface</a:t>
            </a:r>
          </a:p>
        </p:txBody>
      </p:sp>
      <p:pic>
        <p:nvPicPr>
          <p:cNvPr id="18" name="Picture 17" descr="comp_u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200400"/>
            <a:ext cx="155448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3952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Scene setup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API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Policy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526280"/>
            <a:ext cx="75895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MuJoCo documentation (Google DeepMind); robosuite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step()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04672"/>
            <a:ext cx="8229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Update the simulation state from  t  to  t + Δt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step: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Detecting collision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Solving physics (resolve collision, evolve dynamics)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Time integration</a:t>
            </a:r>
          </a:p>
        </p:txBody>
      </p:sp>
      <p:pic>
        <p:nvPicPr>
          <p:cNvPr id="5" name="Picture 4" descr="ner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7863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Xu, J., Heiden, E., Akinola, I., Fox, D., Macklin, M., and Narang, Y. Neural Robot Dynamics. arXiv:2508.15755, 2025. Fig. 2(a).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19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render()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4206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Get rendering and other sensor readings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 step: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Sending simulation states to the renderer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Run rendering algorithm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Update viewer (if interactive)</a:t>
            </a:r>
          </a:p>
        </p:txBody>
      </p:sp>
      <p:pic>
        <p:nvPicPr>
          <p:cNvPr id="5" name="Picture 4" descr="render_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5156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66160"/>
            <a:ext cx="4023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robosuite TwoArmHandover. robosuite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Major robotic simulators</a:t>
            </a:r>
          </a:p>
        </p:txBody>
      </p:sp>
      <p:pic>
        <p:nvPicPr>
          <p:cNvPr id="4" name="Picture 3" descr="mujo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023360" cy="1005840"/>
          </a:xfrm>
          <a:prstGeom prst="rect">
            <a:avLst/>
          </a:prstGeom>
        </p:spPr>
      </p:pic>
      <p:pic>
        <p:nvPicPr>
          <p:cNvPr id="5" name="Picture 4" descr="isa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42415"/>
            <a:ext cx="4023360" cy="1207008"/>
          </a:xfrm>
          <a:prstGeom prst="rect">
            <a:avLst/>
          </a:prstGeom>
        </p:spPr>
      </p:pic>
      <p:pic>
        <p:nvPicPr>
          <p:cNvPr id="6" name="Picture 5" descr="sapi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2" y="2651760"/>
            <a:ext cx="3673435" cy="1554480"/>
          </a:xfrm>
          <a:prstGeom prst="rect">
            <a:avLst/>
          </a:prstGeom>
        </p:spPr>
      </p:pic>
      <p:pic>
        <p:nvPicPr>
          <p:cNvPr id="7" name="Picture 6" descr="gene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07856"/>
            <a:ext cx="4023360" cy="1042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" y="4370832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Logos: MuJoCo (Google DeepMind); NVIDIA Isaac Lab; SAPIEN (UCSD); Genesis.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MuJoCo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Multi-Joint dynamics with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 physics engine for robotics, biomechanics, and machine learning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Written at the University of Washington, 2012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      Todorov, Erez, and Tassa, IROS 2012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Sold as Roboti LLC, then acquired by DeepMind in 2021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Open-sourced in 2022 under Apache 2.0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engine: MuJoCo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Rendering: rasterization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804672"/>
            <a:ext cx="402336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Strengths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Fast CPU physics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Smooth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Light interface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Weaknesses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Limited rendering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Single thread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MJX / MJWarp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Multi-thread, GPU acceleration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Wikipedia, “MuJoCo.” Todorov, Erez, and Tassa, IROS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OpenAI Gym  /</a:t>
            </a:r>
          </a:p>
        </p:txBody>
      </p:sp>
      <p:pic>
        <p:nvPicPr>
          <p:cNvPr id="5" name="Picture 4" descr="gymna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89" y="804672"/>
            <a:ext cx="17145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1298448"/>
            <a:ext cx="416052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An API standard for reinforcement learning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Core: Step function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Policy rollout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Env stepping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Obtain observation and reward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Also: Render, Make, Reset</a:t>
            </a:r>
          </a:p>
        </p:txBody>
      </p:sp>
      <p:pic>
        <p:nvPicPr>
          <p:cNvPr id="7" name="Picture 6" descr="gym_en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786384"/>
            <a:ext cx="4114800" cy="1536192"/>
          </a:xfrm>
          <a:prstGeom prst="rect">
            <a:avLst/>
          </a:prstGeom>
        </p:spPr>
      </p:pic>
      <p:pic>
        <p:nvPicPr>
          <p:cNvPr id="8" name="Picture 7" descr="gym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3679" y="2377440"/>
            <a:ext cx="239432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517136"/>
            <a:ext cx="4114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Gymnasium, Farama Foundation. Environment stills from Gymnasium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Course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3 of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Set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macOS, Linux, or Windows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8 GB RAM, a few GB of disk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GPU optional; CPU is enough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to open the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Get the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Clone CourseProj from GitHub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Conda, Python 3.10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pip installs local robosuite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Then open the notebook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395728"/>
            <a:ext cx="8394192" cy="18288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05456"/>
            <a:ext cx="8046720" cy="1627632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https://github.com/RentonRen/CourseProj.git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create -n courseproj python=3.10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activate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jupyter notebook hri_handover_tutorial.ipynb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80467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Windows: create C:\tmp, copy mujoco.dll into robosuite/utils, set MUJOCO_GL=wgl.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MuJoCo: physics only</a:t>
            </a:r>
          </a:p>
          <a:p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bodies, joints, contact</a:t>
            </a:r>
          </a:p>
          <a:p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robosuite, 2017, Stanford SVL</a:t>
            </a:r>
          </a:p>
          <a:p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now ARISE / UT Austin / NVIDIA</a:t>
            </a:r>
          </a:p>
          <a:p>
            <a:r>
              <a:rPr sz="16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What it adds on MuJoCo</a:t>
            </a:r>
          </a:p>
          <a:p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Ready robots (Panda, XArm7, …)</a:t>
            </a:r>
          </a:p>
          <a:p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Built-in task scenes to test on</a:t>
            </a:r>
          </a:p>
          <a:p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Small edits on an existing scene</a:t>
            </a:r>
          </a:p>
          <a:p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Controllers (OSC, IK)</a:t>
            </a:r>
          </a:p>
          <a:p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Cameras, obs dict, Gym reset / step</a:t>
            </a:r>
          </a:p>
        </p:txBody>
      </p:sp>
      <p:pic>
        <p:nvPicPr>
          <p:cNvPr id="5" name="Picture 4" descr="part0_im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53363"/>
            <a:ext cx="4023360" cy="24858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224528"/>
            <a:ext cx="4023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Part 0 of hri_handover_tutorial.ipynb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4462272"/>
            <a:ext cx="5029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Zhu et al., robosuite. arXiv:2009.12293, 2020.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04672"/>
            <a:ext cx="48920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4663440" cy="342900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 = suite.make(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env_name="HumanRobotHandover",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robots="XArm7Handover",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has_renderer=False,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has_offscreen_renderer=True,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use_camera_obs=True,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horizon=300,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control_freq=20,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reward_shaping=False,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initialization_noise=None,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seed=0,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hard_reset=False,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env.start_holding =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841248"/>
            <a:ext cx="33832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One XArm7, hammer in hand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20 Hz, 300 steps, 15 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Headless images in memory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 on for the tour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Sparse reward at first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seed=0, held start pose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Later: cameras off,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reward_shaping=True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>For further information: xx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406F8F1-B0E8-CF4B-863B-810D3AD64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563638"/>
            <a:ext cx="5177691" cy="1152128"/>
          </a:xfrm>
        </p:spPr>
        <p:txBody>
          <a:bodyPr/>
          <a:lstStyle/>
          <a:p>
            <a:r>
              <a:rPr lang="en-US" sz="4800" b="1" dirty="0">
                <a:latin typeface="Muli Black" panose="02000503040000020004" pitchFamily="2" charset="0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Custom 4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3DA9D5"/>
      </a:accent1>
      <a:accent2>
        <a:srgbClr val="3DA9D5"/>
      </a:accent2>
      <a:accent3>
        <a:srgbClr val="3DA9D5"/>
      </a:accent3>
      <a:accent4>
        <a:srgbClr val="3DA9D5"/>
      </a:accent4>
      <a:accent5>
        <a:srgbClr val="3DA9D5"/>
      </a:accent5>
      <a:accent6>
        <a:srgbClr val="3DA9D5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4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4037</TotalTime>
  <Words>445</Words>
  <Application>Microsoft Macintosh PowerPoint</Application>
  <PresentationFormat>On-screen Show (16:9)</PresentationFormat>
  <Paragraphs>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17</vt:i4>
      </vt:variant>
    </vt:vector>
  </HeadingPairs>
  <TitlesOfParts>
    <vt:vector size="38" baseType="lpstr">
      <vt:lpstr>맑은 고딕</vt:lpstr>
      <vt:lpstr>Muli Black</vt:lpstr>
      <vt:lpstr>Muli ExtraBold</vt:lpstr>
      <vt:lpstr>Arial</vt:lpstr>
      <vt:lpstr>Calibri</vt:lpstr>
      <vt:lpstr>Muli</vt:lpstr>
      <vt:lpstr>Muli Bold</vt:lpstr>
      <vt:lpstr>Muli Light</vt:lpstr>
      <vt:lpstr>Wingdings</vt:lpstr>
      <vt:lpstr>Cover and End Slide Master</vt:lpstr>
      <vt:lpstr>Contents Slide Master</vt:lpstr>
      <vt:lpstr>Section Break Slide Master</vt:lpstr>
      <vt:lpstr>Custom Design</vt:lpstr>
      <vt:lpstr>1_Custom Design</vt:lpstr>
      <vt:lpstr>2_Custom Design</vt:lpstr>
      <vt:lpstr>3_Custom Design</vt:lpstr>
      <vt:lpstr>7_Custom Design</vt:lpstr>
      <vt:lpstr>4_Custom Design</vt:lpstr>
      <vt:lpstr>5_Custom Design</vt:lpstr>
      <vt:lpstr>6_Custom Design</vt:lpstr>
      <vt:lpstr>8_Custom Design</vt:lpstr>
      <vt:lpstr>Cover Style 01 PRESENTATION TITLE</vt:lpstr>
      <vt:lpstr>Cover Style 02 PRESENTATION TITLE</vt:lpstr>
      <vt:lpstr>PowerPoint Presentation</vt:lpstr>
      <vt:lpstr>PowerPoint Presentation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Add title</vt:lpstr>
      <vt:lpstr>Add title</vt:lpstr>
      <vt:lpstr>Thank you!</vt:lpstr>
      <vt:lpstr>Q &amp; A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Gareth K K LAI</cp:lastModifiedBy>
  <cp:revision>207</cp:revision>
  <dcterms:created xsi:type="dcterms:W3CDTF">2016-11-07T07:00:36Z</dcterms:created>
  <dcterms:modified xsi:type="dcterms:W3CDTF">2020-05-05T02:51:07Z</dcterms:modified>
</cp:coreProperties>
</file>